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EFF26E-4C37-4B37-B654-E1C696DF92D1}">
  <a:tblStyle styleId="{CBEFF26E-4C37-4B37-B654-E1C696DF92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aa9651c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1aa9651c9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aa9651c9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1aa9651c9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aa9651c9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b1aa9651c9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aa9651c9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1aa9651c9_0_8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aa9651c9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b1aa9651c9_0_9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aa9651c9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b1aa9651c9_0_9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aa9651c9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1aa9651c9_0_9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aa9651c9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1aa9651c9_0_9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aa9651c9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1aa9651c9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aa9651c9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1aa9651c9_0_9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aa9651c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1aa9651c9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aa9651c9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1aa9651c9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aa9651c9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1aa9651c9_0_9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1aa9651c9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1aa9651c9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1aa9651c9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1aa9651c9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aa9651c9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1aa9651c9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1aa9651c9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1aa9651c9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2 – Microserviço de Cálculo de Frete</a:t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Disciplina: Reuso de Software</a:t>
            </a:r>
            <a:endParaRPr sz="27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Universidade Federal do Ceará – Campus Quixadá</a:t>
            </a:r>
            <a:endParaRPr sz="27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Aluno: João Vitor Soares Furtado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457225" y="12767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de um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microserviço reutilizável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voltado ao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 de frete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cálculo de frete é uma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 transversal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amplamente utilizada em diferentes domínios, como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e-commerce, marketplaces e sistemas logísticos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solução foi projetada com foco em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baixo acoplamento, alta coesão e elevado potencial de reutilização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alinhando-se aos princípios de </a:t>
            </a:r>
            <a:r>
              <a:rPr b="1"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SOA e Microserviços</a:t>
            </a:r>
            <a:r>
              <a:rPr lang="pt-BR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sp>
        <p:nvSpPr>
          <p:cNvPr id="83" name="Google Shape;83;p16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solução consiste em um </a:t>
            </a:r>
            <a:r>
              <a:rPr b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microserviço independente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responsável pelo </a:t>
            </a:r>
            <a:r>
              <a:rPr b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 de frete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desacoplado das aplicações clientes.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comunicação com os sistemas consumidores é realizada por meio de uma </a:t>
            </a:r>
            <a:r>
              <a:rPr b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garantindo interoperabilidade entre diferentes linguagens e plataformas.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●"/>
            </a:pP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serviço </a:t>
            </a:r>
            <a:r>
              <a:rPr b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abstrai toda a complexidade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relacionada às regras de </a:t>
            </a:r>
            <a:r>
              <a:rPr b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 e prazo de entrega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centralizando a lógica de negócio em um único ponto reutilizável.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pic>
        <p:nvPicPr>
          <p:cNvPr id="89" name="Google Shape;89;p17" title="ChatGPT Image 18 de dez. de 2025, 14_18_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725" y="1273750"/>
            <a:ext cx="5026575" cy="329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1405575" y="136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{CBEFF26E-4C37-4B37-B654-E1C696DF92D1}</a:tableStyleId>
              </a:tblPr>
              <a:tblGrid>
                <a:gridCol w="3166425"/>
                <a:gridCol w="3166425"/>
              </a:tblGrid>
              <a:tr h="29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Dígito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Região Postal Abrangida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Grande São Paulo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Interior de São Paulo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Rio de Janeiro e Espírito Santo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Minas Gerais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Bahia e Sergipe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Pernambuco, Alagoas, Paraíba e Rio Grande do Norte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Ceará, Piauí, Maranhão, Pará, Amapá, Amazonas, Roraima e Acre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Distrito Federal, Goiás, Tocantins, Mato Grosso e Mato Grosso do Sul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Paraná e Santa Catarina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Rio Grande do Sul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{CBEFF26E-4C37-4B37-B654-E1C696DF92D1}</a:tableStyleId>
              </a:tblPr>
              <a:tblGrid>
                <a:gridCol w="1497575"/>
                <a:gridCol w="1497575"/>
                <a:gridCol w="1497575"/>
                <a:gridCol w="1497575"/>
                <a:gridCol w="1497575"/>
              </a:tblGrid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Posição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Descrição Técnica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Exemplo (01001-000)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1º Dígito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Região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Uma das 10 grandes áreas do Brasil.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 (Grande São Paulo)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2º Dígito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Sub-região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Refinamento geográfico dentro da região.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 (Interior da Grande SP)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3º Dígito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Setor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Área específica de distribuição.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 (Centro de SP)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4º/5º Dígitos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Subsetor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Delimitação de bairros ou distritos.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01 (Sé / Centro Histórico)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Sufixo (3 últimos)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Identificador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Rua, avenida, prédio ou empresa específica.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000 (Ponto exato de entrega)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446025" y="1611975"/>
            <a:ext cx="83151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/>
              <a:t>O Conceito de Peso Taxável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O serviço não calcula o frete apenas pelo peso na balança (kg).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Ele avalia o </a:t>
            </a:r>
            <a:r>
              <a:rPr b="1" lang="pt-BR" sz="1100"/>
              <a:t>espaço ocupado</a:t>
            </a:r>
            <a:r>
              <a:rPr lang="pt-BR" sz="1100"/>
              <a:t> (cm³) para garantir a rentabilidade do transporte.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/>
              <a:t>Regra de Ouro:</a:t>
            </a:r>
            <a:r>
              <a:rPr lang="pt-BR" sz="1100"/>
              <a:t> O frete é cobrado sobre o </a:t>
            </a:r>
            <a:r>
              <a:rPr b="1" lang="pt-BR" sz="1100"/>
              <a:t>maior valor</a:t>
            </a:r>
            <a:r>
              <a:rPr lang="pt-BR" sz="1100"/>
              <a:t> entre Peso Real e Peso Cubado.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20" title="Gemini_Generated_Image_cniszdcniszdcn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25" y="2639425"/>
            <a:ext cx="3358669" cy="250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Descrição da Solução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446025" y="1611975"/>
            <a:ext cx="8315100" cy="20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/>
              <a:t>3. Fluxo de Decisão(Lógica de Reuso)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/>
              <a:t>Input:</a:t>
            </a:r>
            <a:r>
              <a:rPr lang="pt-BR" sz="1100"/>
              <a:t> Dimensões + Peso + Distância (CEP).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Processamento: 1. Calcula Volume Total (cm³).</a:t>
            </a:r>
            <a:br>
              <a:rPr lang="pt-BR" sz="1100"/>
            </a:br>
            <a:r>
              <a:rPr lang="pt-BR" sz="1100"/>
              <a:t>2. Aplica Fator de Cubagem.</a:t>
            </a:r>
            <a:br>
              <a:rPr lang="pt-BR" sz="1100"/>
            </a:br>
            <a:r>
              <a:rPr lang="pt-BR" sz="1100"/>
              <a:t>3. Peso_Taxavel = max(Peso_Real, Peso_Cubado)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/>
              <a:t>Output:</a:t>
            </a:r>
            <a:r>
              <a:rPr lang="pt-BR" sz="1100"/>
              <a:t> Preço Final baseado na tabela da transportadora selecionada (</a:t>
            </a:r>
            <a:r>
              <a:rPr b="1" lang="pt-BR" sz="1100"/>
              <a:t>Strategy Pattern</a:t>
            </a:r>
            <a:r>
              <a:rPr lang="pt-BR" sz="1100"/>
              <a:t>).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Fluxo de Funcionamento</a:t>
            </a:r>
            <a:endParaRPr/>
          </a:p>
        </p:txBody>
      </p:sp>
      <p:sp>
        <p:nvSpPr>
          <p:cNvPr id="120" name="Google Shape;120;p22"/>
          <p:cNvSpPr txBox="1"/>
          <p:nvPr>
            <p:ph idx="4294967295" type="body"/>
          </p:nvPr>
        </p:nvSpPr>
        <p:spPr>
          <a:xfrm>
            <a:off x="457200" y="1292900"/>
            <a:ext cx="8229600" cy="3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Recebimento dos dados de frete por meio da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dos dados de entrada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garantir consistência e integridade das informações.</a:t>
            </a:r>
            <a:b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 da distância entre os CEPs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origem e destino.</a:t>
            </a:r>
            <a:b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Aplicação das regras de negócio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dos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serviços adicionais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configurados (ex.: seguro, desconto).</a:t>
            </a:r>
            <a:b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Retorno ao cliente do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 total do frete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do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prazo estimado de entrega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Fluxo de Funcionamento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450" y="1273750"/>
            <a:ext cx="5256450" cy="386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API REST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32" name="Google Shape;132;p24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Endpoint: /api/freight/calculate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Método: POST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Formato de dados: JSON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DTOs e validações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Arquitetura do Sistema</a:t>
            </a:r>
            <a:endParaRPr/>
          </a:p>
        </p:txBody>
      </p:sp>
      <p:sp>
        <p:nvSpPr>
          <p:cNvPr id="138" name="Google Shape;138;p25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sistema foi projetado seguindo uma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arquitetura em camadas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promovendo separação de responsabilidades.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solução é organizada nas camadas de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Controller, Service, Domínio e Integração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cada uma com papéis bem definidos.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900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comunicação entre aplicações clientes e o microserviço ocorre exclusivamente por meio de uma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garantindo desacoplamento e interoperabilidade.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Arquitetura do Sistema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694900" y="1273750"/>
            <a:ext cx="4467000" cy="3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├── src/main/java/com/example/freight/     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controller/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FreightController.java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dto/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FreightRequest.java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FreightResponse.java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enums/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CarrierType.java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DeliveryMode.java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ExtraServiceType.java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ShippingModality.java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factory/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FreightStrategyFactory.java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policy/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CostPolicy.java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DiscountPolicy.java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InsurancePolicy.java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SaturdayDeliveryPolicy.java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├── service/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DistanceService.java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├── FreightResult.java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212120"/>
                </a:solidFill>
                <a:highlight>
                  <a:schemeClr val="lt1"/>
                </a:highlight>
              </a:rPr>
              <a:t>│ │ └── FreightService.java</a:t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12120"/>
              </a:solidFill>
              <a:highlight>
                <a:schemeClr val="lt1"/>
              </a:highlight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3937750" y="1273750"/>
            <a:ext cx="4166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├── strategy/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├── adapter/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LegacyAdapter.java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└── LegacyShippingSystem.java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├── decorator/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DiscountDecorator.java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FreightDecorator.java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InsuranceDecorator.java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InsuranceExtraService.java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SaturdayDeliveryDecorator.java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└── SaturdayDeliveryExtraService.java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├── impl/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AzulExpressStrategy.java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├── CorreiosStrategy.java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│ └── DefaultFreightStrategy.java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├── DeliveryTimeStrategy.java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│ └── FreightStrategy.java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└── util/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├── Money.java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└── WeightCalculator.java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├── src/main/resources/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└── application.yml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├── src/test/java/com/example/freight/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│ └── (testes unitários e de integração)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├── pom.xml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12120"/>
                </a:solidFill>
                <a:highlight>
                  <a:schemeClr val="lt1"/>
                </a:highlight>
              </a:rPr>
              <a:t>└── README.md</a:t>
            </a:r>
            <a:endParaRPr sz="800">
              <a:solidFill>
                <a:srgbClr val="21212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Tecnologias Utilizadas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51" name="Google Shape;151;p27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17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Boot e Spring Web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Validation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Resilience4j e Micrometer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Maven e Lombok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Padrões de Reuso Aplicados</a:t>
            </a:r>
            <a:endParaRPr/>
          </a:p>
        </p:txBody>
      </p:sp>
      <p:sp>
        <p:nvSpPr>
          <p:cNvPr id="157" name="Google Shape;157;p28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cálculo por transportadora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Factory: seleção dinâmica da estratégia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Decorator: serviços adicionais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Adapter: integração com sistemas legados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Reutilização do Serviço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63" name="Google Shape;163;p29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via HTTP REST</a:t>
            </a:r>
            <a:endParaRPr sz="2700"/>
          </a:p>
          <a:p>
            <a:pPr indent="-3111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em e-commerce, marketplaces e sistemas logísticos</a:t>
            </a:r>
            <a:endParaRPr sz="2700"/>
          </a:p>
          <a:p>
            <a:pPr indent="-31115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Centralização das regras de negócio</a:t>
            </a:r>
            <a:endParaRPr sz="2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169" name="Google Shape;169;p30"/>
          <p:cNvSpPr txBox="1"/>
          <p:nvPr>
            <p:ph idx="4294967295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potencial de reutilização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Facilidade de manutenção e evolução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Aplicação prática dos conceitos de reuso de software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