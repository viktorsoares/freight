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0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y="5143500" cx="9144000"/>
  <p:notesSz cx="6858000" cy="9144000"/>
  <p:embeddedFontLst>
    <p:embeddedFont>
      <p:font typeface="Roboto"/>
      <p:regular r:id="rId24"/>
      <p:bold r:id="rId25"/>
      <p:italic r:id="rId26"/>
      <p:boldItalic r:id="rId27"/>
    </p:embeddedFont>
    <p:embeddedFont>
      <p:font typeface="Merriweather"/>
      <p:regular r:id="rId28"/>
      <p:bold r:id="rId29"/>
      <p:italic r:id="rId30"/>
      <p:boldItalic r:id="rId3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62E9DA21-A6E6-407A-B518-5656F22B945E}">
  <a:tblStyle styleId="{62E9DA21-A6E6-407A-B518-5656F22B945E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font" Target="fonts/Roboto-regular.fntdata"/><Relationship Id="rId23" Type="http://schemas.openxmlformats.org/officeDocument/2006/relationships/slide" Target="slides/slide17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26" Type="http://schemas.openxmlformats.org/officeDocument/2006/relationships/font" Target="fonts/Roboto-italic.fntdata"/><Relationship Id="rId25" Type="http://schemas.openxmlformats.org/officeDocument/2006/relationships/font" Target="fonts/Roboto-bold.fntdata"/><Relationship Id="rId28" Type="http://schemas.openxmlformats.org/officeDocument/2006/relationships/font" Target="fonts/Merriweather-regular.fntdata"/><Relationship Id="rId27" Type="http://schemas.openxmlformats.org/officeDocument/2006/relationships/font" Target="fonts/Roboto-boldItalic.fntdata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29" Type="http://schemas.openxmlformats.org/officeDocument/2006/relationships/font" Target="fonts/Merriweather-bold.fntdata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font" Target="fonts/Merriweather-boldItalic.fntdata"/><Relationship Id="rId30" Type="http://schemas.openxmlformats.org/officeDocument/2006/relationships/font" Target="fonts/Merriweather-italic.fntdata"/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g3b1aa9651c9_2_7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" name="Google Shape;68;g3b1aa9651c9_2_75:notes"/>
          <p:cNvSpPr/>
          <p:nvPr>
            <p:ph idx="2" type="sldImg"/>
          </p:nvPr>
        </p:nvSpPr>
        <p:spPr>
          <a:xfrm>
            <a:off x="381188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b1aa9651c9_2_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4" name="Google Shape;74;g3b1aa9651c9_2_81:notes"/>
          <p:cNvSpPr/>
          <p:nvPr>
            <p:ph idx="2" type="sldImg"/>
          </p:nvPr>
        </p:nvSpPr>
        <p:spPr>
          <a:xfrm>
            <a:off x="381188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g3b1aa9651c9_2_8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0" name="Google Shape;80;g3b1aa9651c9_2_86:notes"/>
          <p:cNvSpPr/>
          <p:nvPr>
            <p:ph idx="2" type="sldImg"/>
          </p:nvPr>
        </p:nvSpPr>
        <p:spPr>
          <a:xfrm>
            <a:off x="381188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g3b1aa9651c9_0_89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6" name="Google Shape;86;g3b1aa9651c9_0_891:notes"/>
          <p:cNvSpPr/>
          <p:nvPr>
            <p:ph idx="2" type="sldImg"/>
          </p:nvPr>
        </p:nvSpPr>
        <p:spPr>
          <a:xfrm>
            <a:off x="381188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g3b1aa9651c9_0_93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" name="Google Shape;92;g3b1aa9651c9_0_937:notes"/>
          <p:cNvSpPr/>
          <p:nvPr>
            <p:ph idx="2" type="sldImg"/>
          </p:nvPr>
        </p:nvSpPr>
        <p:spPr>
          <a:xfrm>
            <a:off x="381188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b1aa9651c9_0_95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8" name="Google Shape;98;g3b1aa9651c9_0_953:notes"/>
          <p:cNvSpPr/>
          <p:nvPr>
            <p:ph idx="2" type="sldImg"/>
          </p:nvPr>
        </p:nvSpPr>
        <p:spPr>
          <a:xfrm>
            <a:off x="381188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g3b1aa9651c9_0_9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" name="Google Shape;104;g3b1aa9651c9_0_912:notes"/>
          <p:cNvSpPr/>
          <p:nvPr>
            <p:ph idx="2" type="sldImg"/>
          </p:nvPr>
        </p:nvSpPr>
        <p:spPr>
          <a:xfrm>
            <a:off x="381188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g3b1aa9651c9_0_9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g3b1aa9651c9_0_921:notes"/>
          <p:cNvSpPr/>
          <p:nvPr>
            <p:ph idx="2" type="sldImg"/>
          </p:nvPr>
        </p:nvSpPr>
        <p:spPr>
          <a:xfrm>
            <a:off x="381188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g3b1aa9651c9_2_9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g3b1aa9651c9_2_91:notes"/>
          <p:cNvSpPr/>
          <p:nvPr>
            <p:ph idx="2" type="sldImg"/>
          </p:nvPr>
        </p:nvSpPr>
        <p:spPr>
          <a:xfrm>
            <a:off x="381188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g3b1aa9651c9_0_90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3" name="Google Shape;123;g3b1aa9651c9_0_902:notes"/>
          <p:cNvSpPr/>
          <p:nvPr>
            <p:ph idx="2" type="sldImg"/>
          </p:nvPr>
        </p:nvSpPr>
        <p:spPr>
          <a:xfrm>
            <a:off x="381188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g3b1aa9651c9_2_9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g3b1aa9651c9_2_96:notes"/>
          <p:cNvSpPr/>
          <p:nvPr>
            <p:ph idx="2" type="sldImg"/>
          </p:nvPr>
        </p:nvSpPr>
        <p:spPr>
          <a:xfrm>
            <a:off x="381188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g3b1aa9651c9_2_10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g3b1aa9651c9_2_101:notes"/>
          <p:cNvSpPr/>
          <p:nvPr>
            <p:ph idx="2" type="sldImg"/>
          </p:nvPr>
        </p:nvSpPr>
        <p:spPr>
          <a:xfrm>
            <a:off x="381188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g3b1aa9651c9_0_9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1" name="Google Shape;141;g3b1aa9651c9_0_927:notes"/>
          <p:cNvSpPr/>
          <p:nvPr>
            <p:ph idx="2" type="sldImg"/>
          </p:nvPr>
        </p:nvSpPr>
        <p:spPr>
          <a:xfrm>
            <a:off x="381188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g3b1aa9651c9_2_10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8" name="Google Shape;148;g3b1aa9651c9_2_106:notes"/>
          <p:cNvSpPr/>
          <p:nvPr>
            <p:ph idx="2" type="sldImg"/>
          </p:nvPr>
        </p:nvSpPr>
        <p:spPr>
          <a:xfrm>
            <a:off x="381188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b1aa9651c9_2_1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g3b1aa9651c9_2_111:notes"/>
          <p:cNvSpPr/>
          <p:nvPr>
            <p:ph idx="2" type="sldImg"/>
          </p:nvPr>
        </p:nvSpPr>
        <p:spPr>
          <a:xfrm>
            <a:off x="381188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g3b1aa9651c9_2_1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0" name="Google Shape;160;g3b1aa9651c9_2_116:notes"/>
          <p:cNvSpPr/>
          <p:nvPr>
            <p:ph idx="2" type="sldImg"/>
          </p:nvPr>
        </p:nvSpPr>
        <p:spPr>
          <a:xfrm>
            <a:off x="381188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b1aa9651c9_2_1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g3b1aa9651c9_2_121:notes"/>
          <p:cNvSpPr/>
          <p:nvPr>
            <p:ph idx="2" type="sldImg"/>
          </p:nvPr>
        </p:nvSpPr>
        <p:spPr>
          <a:xfrm>
            <a:off x="381188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solidFill>
          <a:schemeClr val="dk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-125" y="0"/>
            <a:ext cx="9144250" cy="4398100"/>
          </a:xfrm>
          <a:custGeom>
            <a:rect b="b" l="l" r="r" t="t"/>
            <a:pathLst>
              <a:path extrusionOk="0" h="175924" w="365770">
                <a:moveTo>
                  <a:pt x="0" y="0"/>
                </a:moveTo>
                <a:lnTo>
                  <a:pt x="365770" y="0"/>
                </a:lnTo>
                <a:lnTo>
                  <a:pt x="365760" y="70914"/>
                </a:lnTo>
                <a:lnTo>
                  <a:pt x="0" y="175924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</p:sp>
      <p:sp>
        <p:nvSpPr>
          <p:cNvPr id="11" name="Google Shape;11;p2"/>
          <p:cNvSpPr txBox="1"/>
          <p:nvPr>
            <p:ph type="ctrTitle"/>
          </p:nvPr>
        </p:nvSpPr>
        <p:spPr>
          <a:xfrm>
            <a:off x="311700" y="539725"/>
            <a:ext cx="8520600" cy="1282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2" name="Google Shape;12;p2"/>
          <p:cNvSpPr txBox="1"/>
          <p:nvPr>
            <p:ph idx="1" type="subTitle"/>
          </p:nvPr>
        </p:nvSpPr>
        <p:spPr>
          <a:xfrm>
            <a:off x="311700" y="1878560"/>
            <a:ext cx="4242600" cy="738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9pPr>
          </a:lstStyle>
          <a:p/>
        </p:txBody>
      </p:sp>
      <p:sp>
        <p:nvSpPr>
          <p:cNvPr id="13" name="Google Shape;13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solidFill>
          <a:schemeClr val="accent3"/>
        </a:solidFill>
      </p:bgPr>
    </p:bg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3"/>
          <p:cNvSpPr/>
          <p:nvPr/>
        </p:nvSpPr>
        <p:spPr>
          <a:xfrm>
            <a:off x="0" y="48099"/>
            <a:ext cx="9144250" cy="4398100"/>
          </a:xfrm>
          <a:custGeom>
            <a:rect b="b" l="l" r="r" t="t"/>
            <a:pathLst>
              <a:path extrusionOk="0" h="175924" w="365770">
                <a:moveTo>
                  <a:pt x="0" y="0"/>
                </a:moveTo>
                <a:lnTo>
                  <a:pt x="365770" y="0"/>
                </a:lnTo>
                <a:lnTo>
                  <a:pt x="365760" y="70914"/>
                </a:lnTo>
                <a:lnTo>
                  <a:pt x="0" y="175924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</p:sp>
      <p:sp>
        <p:nvSpPr>
          <p:cNvPr id="16" name="Google Shape;16;p3"/>
          <p:cNvSpPr/>
          <p:nvPr/>
        </p:nvSpPr>
        <p:spPr>
          <a:xfrm>
            <a:off x="0" y="0"/>
            <a:ext cx="9144250" cy="4398100"/>
          </a:xfrm>
          <a:custGeom>
            <a:rect b="b" l="l" r="r" t="t"/>
            <a:pathLst>
              <a:path extrusionOk="0" h="175924" w="365770">
                <a:moveTo>
                  <a:pt x="0" y="0"/>
                </a:moveTo>
                <a:lnTo>
                  <a:pt x="365770" y="0"/>
                </a:lnTo>
                <a:lnTo>
                  <a:pt x="365760" y="70914"/>
                </a:lnTo>
                <a:lnTo>
                  <a:pt x="0" y="175924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</p:sp>
      <p:sp>
        <p:nvSpPr>
          <p:cNvPr id="17" name="Google Shape;17;p3"/>
          <p:cNvSpPr txBox="1"/>
          <p:nvPr>
            <p:ph type="title"/>
          </p:nvPr>
        </p:nvSpPr>
        <p:spPr>
          <a:xfrm>
            <a:off x="311700" y="539725"/>
            <a:ext cx="8520600" cy="1282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8" name="Google Shape;18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accent1"/>
                </a:solidFill>
              </a:defRPr>
            </a:lvl1pPr>
            <a:lvl2pPr lvl="1">
              <a:buNone/>
              <a:defRPr>
                <a:solidFill>
                  <a:schemeClr val="accent1"/>
                </a:solidFill>
              </a:defRPr>
            </a:lvl2pPr>
            <a:lvl3pPr lvl="2">
              <a:buNone/>
              <a:defRPr>
                <a:solidFill>
                  <a:schemeClr val="accent1"/>
                </a:solidFill>
              </a:defRPr>
            </a:lvl3pPr>
            <a:lvl4pPr lvl="3">
              <a:buNone/>
              <a:defRPr>
                <a:solidFill>
                  <a:schemeClr val="accent1"/>
                </a:solidFill>
              </a:defRPr>
            </a:lvl4pPr>
            <a:lvl5pPr lvl="4">
              <a:buNone/>
              <a:defRPr>
                <a:solidFill>
                  <a:schemeClr val="accent1"/>
                </a:solidFill>
              </a:defRPr>
            </a:lvl5pPr>
            <a:lvl6pPr lvl="5">
              <a:buNone/>
              <a:defRPr>
                <a:solidFill>
                  <a:schemeClr val="accent1"/>
                </a:solidFill>
              </a:defRPr>
            </a:lvl6pPr>
            <a:lvl7pPr lvl="6">
              <a:buNone/>
              <a:defRPr>
                <a:solidFill>
                  <a:schemeClr val="accent1"/>
                </a:solidFill>
              </a:defRPr>
            </a:lvl7pPr>
            <a:lvl8pPr lvl="7">
              <a:buNone/>
              <a:defRPr>
                <a:solidFill>
                  <a:schemeClr val="accent1"/>
                </a:solidFill>
              </a:defRPr>
            </a:lvl8pPr>
            <a:lvl9pPr lvl="8">
              <a:buNone/>
              <a:defRPr>
                <a:solidFill>
                  <a:schemeClr val="accen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4"/>
          <p:cNvSpPr/>
          <p:nvPr/>
        </p:nvSpPr>
        <p:spPr>
          <a:xfrm>
            <a:off x="0" y="0"/>
            <a:ext cx="4314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" name="Google Shape;21;p4"/>
          <p:cNvSpPr/>
          <p:nvPr/>
        </p:nvSpPr>
        <p:spPr>
          <a:xfrm>
            <a:off x="0" y="44125"/>
            <a:ext cx="4313625" cy="4399375"/>
          </a:xfrm>
          <a:custGeom>
            <a:rect b="b" l="l" r="r" t="t"/>
            <a:pathLst>
              <a:path extrusionOk="0" h="175975" w="172545">
                <a:moveTo>
                  <a:pt x="0" y="157"/>
                </a:moveTo>
                <a:lnTo>
                  <a:pt x="172419" y="0"/>
                </a:lnTo>
                <a:lnTo>
                  <a:pt x="172545" y="126541"/>
                </a:lnTo>
                <a:lnTo>
                  <a:pt x="0" y="175975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22" name="Google Shape;22;p4"/>
          <p:cNvSpPr/>
          <p:nvPr/>
        </p:nvSpPr>
        <p:spPr>
          <a:xfrm>
            <a:off x="-125" y="0"/>
            <a:ext cx="4316900" cy="4395600"/>
          </a:xfrm>
          <a:custGeom>
            <a:rect b="b" l="l" r="r" t="t"/>
            <a:pathLst>
              <a:path extrusionOk="0" h="175824" w="172676">
                <a:moveTo>
                  <a:pt x="0" y="6"/>
                </a:moveTo>
                <a:lnTo>
                  <a:pt x="172676" y="0"/>
                </a:lnTo>
                <a:lnTo>
                  <a:pt x="172562" y="126442"/>
                </a:lnTo>
                <a:lnTo>
                  <a:pt x="0" y="175824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</p:sp>
      <p:sp>
        <p:nvSpPr>
          <p:cNvPr id="23" name="Google Shape;23;p4"/>
          <p:cNvSpPr txBox="1"/>
          <p:nvPr>
            <p:ph type="title"/>
          </p:nvPr>
        </p:nvSpPr>
        <p:spPr>
          <a:xfrm>
            <a:off x="311725" y="500925"/>
            <a:ext cx="3706500" cy="250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4" name="Google Shape;24;p4"/>
          <p:cNvSpPr txBox="1"/>
          <p:nvPr>
            <p:ph idx="1" type="body"/>
          </p:nvPr>
        </p:nvSpPr>
        <p:spPr>
          <a:xfrm>
            <a:off x="4644675" y="500925"/>
            <a:ext cx="4166400" cy="4098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5"/>
          <p:cNvSpPr/>
          <p:nvPr/>
        </p:nvSpPr>
        <p:spPr>
          <a:xfrm>
            <a:off x="0" y="0"/>
            <a:ext cx="9144000" cy="12771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" name="Google Shape;28;p5"/>
          <p:cNvSpPr txBox="1"/>
          <p:nvPr>
            <p:ph type="title"/>
          </p:nvPr>
        </p:nvSpPr>
        <p:spPr>
          <a:xfrm>
            <a:off x="311725" y="500925"/>
            <a:ext cx="8520600" cy="623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311700" y="1505700"/>
            <a:ext cx="3999900" cy="307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30" name="Google Shape;30;p5"/>
          <p:cNvSpPr txBox="1"/>
          <p:nvPr>
            <p:ph idx="2" type="body"/>
          </p:nvPr>
        </p:nvSpPr>
        <p:spPr>
          <a:xfrm>
            <a:off x="4832400" y="1505700"/>
            <a:ext cx="3999900" cy="307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6"/>
          <p:cNvSpPr/>
          <p:nvPr/>
        </p:nvSpPr>
        <p:spPr>
          <a:xfrm>
            <a:off x="0" y="0"/>
            <a:ext cx="9144000" cy="12771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" name="Google Shape;34;p6"/>
          <p:cNvSpPr txBox="1"/>
          <p:nvPr>
            <p:ph type="title"/>
          </p:nvPr>
        </p:nvSpPr>
        <p:spPr>
          <a:xfrm>
            <a:off x="311725" y="500925"/>
            <a:ext cx="8520600" cy="623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5" name="Google Shape;35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7"/>
          <p:cNvSpPr/>
          <p:nvPr/>
        </p:nvSpPr>
        <p:spPr>
          <a:xfrm>
            <a:off x="0" y="0"/>
            <a:ext cx="37644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" name="Google Shape;38;p7"/>
          <p:cNvSpPr txBox="1"/>
          <p:nvPr>
            <p:ph type="title"/>
          </p:nvPr>
        </p:nvSpPr>
        <p:spPr>
          <a:xfrm>
            <a:off x="311725" y="500925"/>
            <a:ext cx="3127500" cy="1829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9" name="Google Shape;39;p7"/>
          <p:cNvSpPr txBox="1"/>
          <p:nvPr>
            <p:ph idx="1" type="body"/>
          </p:nvPr>
        </p:nvSpPr>
        <p:spPr>
          <a:xfrm>
            <a:off x="311700" y="2390650"/>
            <a:ext cx="3127500" cy="2298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300"/>
              <a:buChar char="●"/>
              <a:defRPr>
                <a:solidFill>
                  <a:schemeClr val="accent2"/>
                </a:solidFill>
              </a:defRPr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○"/>
              <a:defRPr>
                <a:solidFill>
                  <a:schemeClr val="accent2"/>
                </a:solidFill>
              </a:defRPr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■"/>
              <a:defRPr>
                <a:solidFill>
                  <a:schemeClr val="accent2"/>
                </a:solidFill>
              </a:defRPr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●"/>
              <a:defRPr>
                <a:solidFill>
                  <a:schemeClr val="accent2"/>
                </a:solidFill>
              </a:defRPr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○"/>
              <a:defRPr>
                <a:solidFill>
                  <a:schemeClr val="accent2"/>
                </a:solidFill>
              </a:defRPr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■"/>
              <a:defRPr>
                <a:solidFill>
                  <a:schemeClr val="accent2"/>
                </a:solidFill>
              </a:defRPr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●"/>
              <a:defRPr>
                <a:solidFill>
                  <a:schemeClr val="accent2"/>
                </a:solidFill>
              </a:defRPr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○"/>
              <a:defRPr>
                <a:solidFill>
                  <a:schemeClr val="accent2"/>
                </a:solidFill>
              </a:defRPr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■"/>
              <a:defRPr>
                <a:solidFill>
                  <a:schemeClr val="accent2"/>
                </a:solidFill>
              </a:defRPr>
            </a:lvl9pPr>
          </a:lstStyle>
          <a:p/>
        </p:txBody>
      </p:sp>
      <p:sp>
        <p:nvSpPr>
          <p:cNvPr id="40" name="Google Shape;40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bg>
      <p:bgPr>
        <a:solidFill>
          <a:schemeClr val="accent3"/>
        </a:solidFill>
      </p:bgPr>
    </p:bg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8"/>
          <p:cNvSpPr txBox="1"/>
          <p:nvPr>
            <p:ph type="title"/>
          </p:nvPr>
        </p:nvSpPr>
        <p:spPr>
          <a:xfrm>
            <a:off x="311675" y="798600"/>
            <a:ext cx="6247800" cy="3546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43" name="Google Shape;43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accent1"/>
                </a:solidFill>
              </a:defRPr>
            </a:lvl1pPr>
            <a:lvl2pPr lvl="1">
              <a:buNone/>
              <a:defRPr>
                <a:solidFill>
                  <a:schemeClr val="accent1"/>
                </a:solidFill>
              </a:defRPr>
            </a:lvl2pPr>
            <a:lvl3pPr lvl="2">
              <a:buNone/>
              <a:defRPr>
                <a:solidFill>
                  <a:schemeClr val="accent1"/>
                </a:solidFill>
              </a:defRPr>
            </a:lvl3pPr>
            <a:lvl4pPr lvl="3">
              <a:buNone/>
              <a:defRPr>
                <a:solidFill>
                  <a:schemeClr val="accent1"/>
                </a:solidFill>
              </a:defRPr>
            </a:lvl4pPr>
            <a:lvl5pPr lvl="4">
              <a:buNone/>
              <a:defRPr>
                <a:solidFill>
                  <a:schemeClr val="accent1"/>
                </a:solidFill>
              </a:defRPr>
            </a:lvl5pPr>
            <a:lvl6pPr lvl="5">
              <a:buNone/>
              <a:defRPr>
                <a:solidFill>
                  <a:schemeClr val="accent1"/>
                </a:solidFill>
              </a:defRPr>
            </a:lvl6pPr>
            <a:lvl7pPr lvl="6">
              <a:buNone/>
              <a:defRPr>
                <a:solidFill>
                  <a:schemeClr val="accent1"/>
                </a:solidFill>
              </a:defRPr>
            </a:lvl7pPr>
            <a:lvl8pPr lvl="7">
              <a:buNone/>
              <a:defRPr>
                <a:solidFill>
                  <a:schemeClr val="accent1"/>
                </a:solidFill>
              </a:defRPr>
            </a:lvl8pPr>
            <a:lvl9pPr lvl="8">
              <a:buNone/>
              <a:defRPr>
                <a:solidFill>
                  <a:schemeClr val="accen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9"/>
          <p:cNvSpPr/>
          <p:nvPr/>
        </p:nvSpPr>
        <p:spPr>
          <a:xfrm>
            <a:off x="0" y="0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" name="Google Shape;46;p9"/>
          <p:cNvSpPr txBox="1"/>
          <p:nvPr>
            <p:ph type="title"/>
          </p:nvPr>
        </p:nvSpPr>
        <p:spPr>
          <a:xfrm>
            <a:off x="311300" y="500925"/>
            <a:ext cx="3704400" cy="2049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7" name="Google Shape;47;p9"/>
          <p:cNvSpPr txBox="1"/>
          <p:nvPr>
            <p:ph idx="1" type="subTitle"/>
          </p:nvPr>
        </p:nvSpPr>
        <p:spPr>
          <a:xfrm>
            <a:off x="304800" y="2626725"/>
            <a:ext cx="3704400" cy="926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9pPr>
          </a:lstStyle>
          <a:p/>
        </p:txBody>
      </p:sp>
      <p:sp>
        <p:nvSpPr>
          <p:cNvPr id="48" name="Google Shape;48;p9"/>
          <p:cNvSpPr txBox="1"/>
          <p:nvPr>
            <p:ph idx="2" type="body"/>
          </p:nvPr>
        </p:nvSpPr>
        <p:spPr>
          <a:xfrm>
            <a:off x="4879025" y="500925"/>
            <a:ext cx="3954000" cy="4111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49" name="Google Shape;49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0"/>
          <p:cNvSpPr/>
          <p:nvPr/>
        </p:nvSpPr>
        <p:spPr>
          <a:xfrm>
            <a:off x="0" y="4369000"/>
            <a:ext cx="9144000" cy="7743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" name="Google Shape;52;p10"/>
          <p:cNvSpPr txBox="1"/>
          <p:nvPr>
            <p:ph idx="1" type="body"/>
          </p:nvPr>
        </p:nvSpPr>
        <p:spPr>
          <a:xfrm>
            <a:off x="311700" y="4521400"/>
            <a:ext cx="7979400" cy="460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Merriweather"/>
              <a:buNone/>
              <a:defRPr>
                <a:solidFill>
                  <a:schemeClr val="lt1"/>
                </a:solidFill>
                <a:latin typeface="Merriweather"/>
                <a:ea typeface="Merriweather"/>
                <a:cs typeface="Merriweather"/>
                <a:sym typeface="Merriweather"/>
              </a:defRPr>
            </a:lvl1pPr>
          </a:lstStyle>
          <a:p/>
        </p:txBody>
      </p:sp>
      <p:sp>
        <p:nvSpPr>
          <p:cNvPr id="53" name="Google Shape;5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solidFill>
          <a:schemeClr val="dk1"/>
        </a:solidFill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1"/>
          <p:cNvSpPr txBox="1"/>
          <p:nvPr>
            <p:ph hasCustomPrompt="1" type="title"/>
          </p:nvPr>
        </p:nvSpPr>
        <p:spPr>
          <a:xfrm>
            <a:off x="311750" y="831175"/>
            <a:ext cx="5334900" cy="1244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6" name="Google Shape;56;p11"/>
          <p:cNvSpPr txBox="1"/>
          <p:nvPr>
            <p:ph idx="1" type="body"/>
          </p:nvPr>
        </p:nvSpPr>
        <p:spPr>
          <a:xfrm>
            <a:off x="311700" y="2121425"/>
            <a:ext cx="5334900" cy="94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300"/>
              <a:buChar char="●"/>
              <a:defRPr>
                <a:solidFill>
                  <a:schemeClr val="accent2"/>
                </a:solidFill>
              </a:defRPr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○"/>
              <a:defRPr>
                <a:solidFill>
                  <a:schemeClr val="accent2"/>
                </a:solidFill>
              </a:defRPr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■"/>
              <a:defRPr>
                <a:solidFill>
                  <a:schemeClr val="accent2"/>
                </a:solidFill>
              </a:defRPr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●"/>
              <a:defRPr>
                <a:solidFill>
                  <a:schemeClr val="accent2"/>
                </a:solidFill>
              </a:defRPr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○"/>
              <a:defRPr>
                <a:solidFill>
                  <a:schemeClr val="accent2"/>
                </a:solidFill>
              </a:defRPr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■"/>
              <a:defRPr>
                <a:solidFill>
                  <a:schemeClr val="accent2"/>
                </a:solidFill>
              </a:defRPr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●"/>
              <a:defRPr>
                <a:solidFill>
                  <a:schemeClr val="accent2"/>
                </a:solidFill>
              </a:defRPr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○"/>
              <a:defRPr>
                <a:solidFill>
                  <a:schemeClr val="accent2"/>
                </a:solidFill>
              </a:defRPr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■"/>
              <a:defRPr>
                <a:solidFill>
                  <a:schemeClr val="accent2"/>
                </a:solidFill>
              </a:defRPr>
            </a:lvl9pPr>
          </a:lstStyle>
          <a:p/>
        </p:txBody>
      </p:sp>
      <p:sp>
        <p:nvSpPr>
          <p:cNvPr id="57" name="Google Shape;5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3"/>
          <p:cNvSpPr txBox="1"/>
          <p:nvPr>
            <p:ph type="title"/>
          </p:nvPr>
        </p:nvSpPr>
        <p:spPr>
          <a:xfrm>
            <a:off x="457200" y="205978"/>
            <a:ext cx="8229600" cy="8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62" name="Google Shape;62;p13"/>
          <p:cNvSpPr txBox="1"/>
          <p:nvPr>
            <p:ph idx="1" type="body"/>
          </p:nvPr>
        </p:nvSpPr>
        <p:spPr>
          <a:xfrm>
            <a:off x="457200" y="1200150"/>
            <a:ext cx="8229600" cy="33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1pPr>
            <a:lvl2pPr indent="-342900" lvl="1" marL="91440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2pPr>
            <a:lvl3pPr indent="-342900" lvl="2" marL="137160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Char char="■"/>
              <a:defRPr/>
            </a:lvl3pPr>
            <a:lvl4pPr indent="-342900" lvl="3" marL="182880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4pPr>
            <a:lvl5pPr indent="-342900" lvl="4" marL="228600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5pPr>
            <a:lvl6pPr indent="-342900" lvl="5" marL="274320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Char char="■"/>
              <a:defRPr/>
            </a:lvl6pPr>
            <a:lvl7pPr indent="-342900" lvl="6" marL="320040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7pPr>
            <a:lvl8pPr indent="-342900" lvl="7" marL="365760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8pPr>
            <a:lvl9pPr indent="-342900" lvl="8" marL="4114800" algn="l"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800"/>
              <a:buChar char="■"/>
              <a:defRPr/>
            </a:lvl9pPr>
          </a:lstStyle>
          <a:p/>
        </p:txBody>
      </p:sp>
      <p:sp>
        <p:nvSpPr>
          <p:cNvPr id="63" name="Google Shape;63;p13"/>
          <p:cNvSpPr txBox="1"/>
          <p:nvPr>
            <p:ph idx="10" type="dt"/>
          </p:nvPr>
        </p:nvSpPr>
        <p:spPr>
          <a:xfrm>
            <a:off x="457200" y="4767263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13"/>
          <p:cNvSpPr txBox="1"/>
          <p:nvPr>
            <p:ph idx="11" type="ftr"/>
          </p:nvPr>
        </p:nvSpPr>
        <p:spPr>
          <a:xfrm>
            <a:off x="3124200" y="4767263"/>
            <a:ext cx="28956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13"/>
          <p:cNvSpPr txBox="1"/>
          <p:nvPr>
            <p:ph idx="12" type="sldNum"/>
          </p:nvPr>
        </p:nvSpPr>
        <p:spPr>
          <a:xfrm>
            <a:off x="6553200" y="4767263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paradigm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29845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-29845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-29845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-29845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-29845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9845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9845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9845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4"/>
          <p:cNvSpPr txBox="1"/>
          <p:nvPr>
            <p:ph type="ctrTitle"/>
          </p:nvPr>
        </p:nvSpPr>
        <p:spPr>
          <a:xfrm>
            <a:off x="311700" y="539725"/>
            <a:ext cx="8520600" cy="1282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None/>
            </a:pPr>
            <a:r>
              <a:rPr lang="pt-BR" sz="4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Trabalho 2 – Microserviço de Cálculo de Frete</a:t>
            </a:r>
            <a:endParaRPr/>
          </a:p>
        </p:txBody>
      </p:sp>
      <p:sp>
        <p:nvSpPr>
          <p:cNvPr id="71" name="Google Shape;71;p14"/>
          <p:cNvSpPr txBox="1"/>
          <p:nvPr>
            <p:ph idx="1" type="subTitle"/>
          </p:nvPr>
        </p:nvSpPr>
        <p:spPr>
          <a:xfrm>
            <a:off x="311700" y="1878560"/>
            <a:ext cx="4242600" cy="738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 fontScale="47500" lnSpcReduction="20000"/>
          </a:bodyPr>
          <a:lstStyle/>
          <a:p>
            <a:pPr indent="-139700" lvl="0" marL="3429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rPr lang="pt-BR" sz="27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Disciplina: Reuso de Software</a:t>
            </a:r>
            <a:endParaRPr sz="2700"/>
          </a:p>
          <a:p>
            <a:pPr indent="-139700" lvl="0" marL="34290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rPr lang="pt-BR" sz="27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Universidade Federal do Ceará – Campus Quixadá</a:t>
            </a:r>
            <a:endParaRPr sz="2700"/>
          </a:p>
          <a:p>
            <a:pPr indent="-139700" lvl="0" marL="34290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rPr lang="pt-BR" sz="27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Aluno: João Vitor Soares Furtado</a:t>
            </a:r>
            <a:endParaRPr sz="27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5"/>
          <p:cNvSpPr txBox="1"/>
          <p:nvPr>
            <p:ph type="title"/>
          </p:nvPr>
        </p:nvSpPr>
        <p:spPr>
          <a:xfrm>
            <a:off x="311725" y="500925"/>
            <a:ext cx="8520600" cy="623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None/>
            </a:pPr>
            <a:r>
              <a:rPr lang="pt-BR" sz="4400">
                <a:latin typeface="Calibri"/>
                <a:ea typeface="Calibri"/>
                <a:cs typeface="Calibri"/>
                <a:sym typeface="Calibri"/>
              </a:rPr>
              <a:t>Introdução</a:t>
            </a:r>
            <a:endParaRPr/>
          </a:p>
        </p:txBody>
      </p:sp>
      <p:sp>
        <p:nvSpPr>
          <p:cNvPr id="77" name="Google Shape;77;p15"/>
          <p:cNvSpPr txBox="1"/>
          <p:nvPr>
            <p:ph idx="4294967295" type="body"/>
          </p:nvPr>
        </p:nvSpPr>
        <p:spPr>
          <a:xfrm>
            <a:off x="457225" y="1276725"/>
            <a:ext cx="8229600" cy="33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61950" lvl="0" marL="45720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2100"/>
              <a:buChar char="●"/>
            </a:pPr>
            <a:r>
              <a:rPr lang="pt-BR" sz="2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Desenvolvimento de um </a:t>
            </a:r>
            <a:r>
              <a:rPr b="1" lang="pt-BR" sz="2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microserviço reutilizável</a:t>
            </a:r>
            <a:r>
              <a:rPr lang="pt-BR" sz="2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voltado ao </a:t>
            </a:r>
            <a:r>
              <a:rPr b="1" lang="pt-BR" sz="2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cálculo de frete</a:t>
            </a:r>
            <a:r>
              <a:rPr lang="pt-BR" sz="2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sz="2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61950" lvl="0" marL="45720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100"/>
              <a:buChar char="●"/>
            </a:pPr>
            <a:r>
              <a:rPr lang="pt-BR" sz="2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 cálculo de frete é uma </a:t>
            </a:r>
            <a:r>
              <a:rPr b="1" lang="pt-BR" sz="2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funcionalidade transversal</a:t>
            </a:r>
            <a:r>
              <a:rPr lang="pt-BR" sz="2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, amplamente utilizada em diferentes domínios, como </a:t>
            </a:r>
            <a:r>
              <a:rPr b="1" lang="pt-BR" sz="2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e-commerce, marketplaces e sistemas logísticos</a:t>
            </a:r>
            <a:r>
              <a:rPr lang="pt-BR" sz="2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sz="2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61950" lvl="0" marL="457200" rtl="0" algn="l"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2100"/>
              <a:buChar char="●"/>
            </a:pPr>
            <a:r>
              <a:rPr lang="pt-BR" sz="2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 solução foi projetada com foco em </a:t>
            </a:r>
            <a:r>
              <a:rPr b="1" lang="pt-BR" sz="2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baixo acoplamento, alta coesão e elevado potencial de reutilização</a:t>
            </a:r>
            <a:r>
              <a:rPr lang="pt-BR" sz="2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, alinhando-se aos princípios de </a:t>
            </a:r>
            <a:r>
              <a:rPr b="1" lang="pt-BR" sz="2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SOA e Microserviços</a:t>
            </a:r>
            <a:r>
              <a:rPr lang="pt-BR" sz="2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sz="2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6"/>
          <p:cNvSpPr txBox="1"/>
          <p:nvPr>
            <p:ph type="title"/>
          </p:nvPr>
        </p:nvSpPr>
        <p:spPr>
          <a:xfrm>
            <a:off x="311725" y="500925"/>
            <a:ext cx="8520600" cy="623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None/>
            </a:pPr>
            <a:r>
              <a:rPr lang="pt-BR" sz="4400">
                <a:latin typeface="Calibri"/>
                <a:ea typeface="Calibri"/>
                <a:cs typeface="Calibri"/>
                <a:sym typeface="Calibri"/>
              </a:rPr>
              <a:t>Descrição da Solução</a:t>
            </a:r>
            <a:endParaRPr/>
          </a:p>
        </p:txBody>
      </p:sp>
      <p:sp>
        <p:nvSpPr>
          <p:cNvPr id="83" name="Google Shape;83;p16"/>
          <p:cNvSpPr txBox="1"/>
          <p:nvPr>
            <p:ph idx="4294967295" type="body"/>
          </p:nvPr>
        </p:nvSpPr>
        <p:spPr>
          <a:xfrm>
            <a:off x="457200" y="1200150"/>
            <a:ext cx="8229600" cy="33944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406400" lvl="0" marL="45720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2800"/>
              <a:buChar char="●"/>
            </a:pPr>
            <a:r>
              <a:rPr lang="pt-BR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 solução consiste em um </a:t>
            </a:r>
            <a:r>
              <a:rPr b="1" lang="pt-BR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microserviço independente</a:t>
            </a:r>
            <a:r>
              <a:rPr lang="pt-BR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responsável pelo </a:t>
            </a:r>
            <a:r>
              <a:rPr b="1" lang="pt-BR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cálculo de frete</a:t>
            </a:r>
            <a:r>
              <a:rPr lang="pt-BR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, desacoplado das aplicações clientes.</a:t>
            </a:r>
            <a:endParaRPr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406400" lvl="0" marL="45720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800"/>
              <a:buChar char="●"/>
            </a:pPr>
            <a:r>
              <a:rPr lang="pt-BR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 comunicação com os sistemas consumidores é realizada por meio de uma </a:t>
            </a:r>
            <a:r>
              <a:rPr b="1" lang="pt-BR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API REST</a:t>
            </a:r>
            <a:r>
              <a:rPr lang="pt-BR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, garantindo interoperabilidade entre diferentes linguagens e plataformas.</a:t>
            </a:r>
            <a:endParaRPr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406400" lvl="0" marL="457200" rtl="0" algn="l"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2800"/>
              <a:buChar char="●"/>
            </a:pPr>
            <a:r>
              <a:rPr lang="pt-BR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 serviço </a:t>
            </a:r>
            <a:r>
              <a:rPr b="1" lang="pt-BR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abstrai toda a complexidade</a:t>
            </a:r>
            <a:r>
              <a:rPr lang="pt-BR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relacionada às regras de </a:t>
            </a:r>
            <a:r>
              <a:rPr b="1" lang="pt-BR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custo e prazo de entrega</a:t>
            </a:r>
            <a:r>
              <a:rPr lang="pt-BR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, centralizando a lógica de negócio em um único ponto reutilizável.</a:t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7"/>
          <p:cNvSpPr txBox="1"/>
          <p:nvPr>
            <p:ph type="title"/>
          </p:nvPr>
        </p:nvSpPr>
        <p:spPr>
          <a:xfrm>
            <a:off x="311725" y="500925"/>
            <a:ext cx="8520600" cy="623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None/>
            </a:pPr>
            <a:r>
              <a:rPr lang="pt-BR" sz="4400">
                <a:latin typeface="Calibri"/>
                <a:ea typeface="Calibri"/>
                <a:cs typeface="Calibri"/>
                <a:sym typeface="Calibri"/>
              </a:rPr>
              <a:t>Descrição da Solução</a:t>
            </a:r>
            <a:endParaRPr/>
          </a:p>
        </p:txBody>
      </p:sp>
      <p:pic>
        <p:nvPicPr>
          <p:cNvPr id="89" name="Google Shape;89;p17" title="ChatGPT Image 18 de dez. de 2025, 14_18_5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058725" y="1273750"/>
            <a:ext cx="5026575" cy="32991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18"/>
          <p:cNvSpPr txBox="1"/>
          <p:nvPr>
            <p:ph type="title"/>
          </p:nvPr>
        </p:nvSpPr>
        <p:spPr>
          <a:xfrm>
            <a:off x="311725" y="500925"/>
            <a:ext cx="8520600" cy="623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None/>
            </a:pPr>
            <a:r>
              <a:rPr lang="pt-BR" sz="4400">
                <a:latin typeface="Calibri"/>
                <a:ea typeface="Calibri"/>
                <a:cs typeface="Calibri"/>
                <a:sym typeface="Calibri"/>
              </a:rPr>
              <a:t>Descrição da Solução</a:t>
            </a:r>
            <a:endParaRPr/>
          </a:p>
        </p:txBody>
      </p:sp>
      <p:graphicFrame>
        <p:nvGraphicFramePr>
          <p:cNvPr id="95" name="Google Shape;95;p18"/>
          <p:cNvGraphicFramePr/>
          <p:nvPr/>
        </p:nvGraphicFramePr>
        <p:xfrm>
          <a:off x="1405575" y="1363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{62E9DA21-A6E6-407A-B518-5656F22B945E}</a:tableStyleId>
              </a:tblPr>
              <a:tblGrid>
                <a:gridCol w="3166425"/>
                <a:gridCol w="3166425"/>
              </a:tblGrid>
              <a:tr h="296300"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/>
                        <a:t>Dígito</a:t>
                      </a:r>
                      <a:endParaRPr sz="1000"/>
                    </a:p>
                  </a:txBody>
                  <a:tcPr marT="19050" marB="19050" marR="28575" marL="28575" anchor="b">
                    <a:lnL cap="flat" cmpd="sng" w="1057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057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057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057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/>
                        <a:t>Região Postal Abrangida</a:t>
                      </a:r>
                      <a:endParaRPr sz="1000"/>
                    </a:p>
                  </a:txBody>
                  <a:tcPr marT="19050" marB="19050" marR="91425" marL="91425" anchor="b">
                    <a:lnL cap="flat" cmpd="sng" w="1057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0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057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057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6300"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/>
                        <a:t>0</a:t>
                      </a:r>
                      <a:endParaRPr sz="1000"/>
                    </a:p>
                  </a:txBody>
                  <a:tcPr marT="19050" marB="19050" marR="28575" marL="28575" anchor="b">
                    <a:lnL cap="flat" cmpd="sng" w="1057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057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057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057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/>
                        <a:t>Grande São Paulo</a:t>
                      </a:r>
                      <a:endParaRPr sz="1000"/>
                    </a:p>
                  </a:txBody>
                  <a:tcPr marT="19050" marB="19050" marR="91425" marL="91425" anchor="b">
                    <a:lnL cap="flat" cmpd="sng" w="1057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0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057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057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6300"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/>
                        <a:t>1</a:t>
                      </a:r>
                      <a:endParaRPr sz="1000"/>
                    </a:p>
                  </a:txBody>
                  <a:tcPr marT="19050" marB="19050" marR="28575" marL="28575" anchor="b">
                    <a:lnL cap="flat" cmpd="sng" w="1057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057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057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057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/>
                        <a:t>Interior de São Paulo</a:t>
                      </a:r>
                      <a:endParaRPr sz="1000"/>
                    </a:p>
                  </a:txBody>
                  <a:tcPr marT="19050" marB="19050" marR="91425" marL="91425" anchor="b">
                    <a:lnL cap="flat" cmpd="sng" w="1057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0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057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057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6300"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/>
                        <a:t>2</a:t>
                      </a:r>
                      <a:endParaRPr sz="1000"/>
                    </a:p>
                  </a:txBody>
                  <a:tcPr marT="19050" marB="19050" marR="28575" marL="28575" anchor="b">
                    <a:lnL cap="flat" cmpd="sng" w="1057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057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057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057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/>
                        <a:t>Rio de Janeiro e Espírito Santo</a:t>
                      </a:r>
                      <a:endParaRPr sz="1000"/>
                    </a:p>
                  </a:txBody>
                  <a:tcPr marT="19050" marB="19050" marR="91425" marL="91425" anchor="b">
                    <a:lnL cap="flat" cmpd="sng" w="1057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0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057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057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6300"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/>
                        <a:t>3</a:t>
                      </a:r>
                      <a:endParaRPr sz="1000"/>
                    </a:p>
                  </a:txBody>
                  <a:tcPr marT="19050" marB="19050" marR="28575" marL="28575" anchor="b">
                    <a:lnL cap="flat" cmpd="sng" w="1057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057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057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057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/>
                        <a:t>Minas Gerais</a:t>
                      </a:r>
                      <a:endParaRPr sz="1000"/>
                    </a:p>
                  </a:txBody>
                  <a:tcPr marT="19050" marB="19050" marR="28575" marL="28575" anchor="b">
                    <a:lnL cap="flat" cmpd="sng" w="1057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057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057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057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6300"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/>
                        <a:t>4</a:t>
                      </a:r>
                      <a:endParaRPr sz="1000"/>
                    </a:p>
                  </a:txBody>
                  <a:tcPr marT="19050" marB="19050" marR="28575" marL="28575" anchor="b">
                    <a:lnL cap="flat" cmpd="sng" w="1057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057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057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057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/>
                        <a:t>Bahia e Sergipe</a:t>
                      </a:r>
                      <a:endParaRPr sz="1000"/>
                    </a:p>
                  </a:txBody>
                  <a:tcPr marT="19050" marB="19050" marR="28575" marL="28575" anchor="b">
                    <a:lnL cap="flat" cmpd="sng" w="1057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057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057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057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6300"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/>
                        <a:t>5</a:t>
                      </a:r>
                      <a:endParaRPr sz="1000"/>
                    </a:p>
                  </a:txBody>
                  <a:tcPr marT="19050" marB="19050" marR="28575" marL="28575" anchor="b">
                    <a:lnL cap="flat" cmpd="sng" w="1057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057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057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057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/>
                        <a:t>Pernambuco, Alagoas, Paraíba e Rio Grande do Norte</a:t>
                      </a:r>
                      <a:endParaRPr sz="1000"/>
                    </a:p>
                  </a:txBody>
                  <a:tcPr marT="19050" marB="19050" marR="91425" marL="91425" anchor="b">
                    <a:lnL cap="flat" cmpd="sng" w="1057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0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057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057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6300"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/>
                        <a:t>6</a:t>
                      </a:r>
                      <a:endParaRPr sz="1000"/>
                    </a:p>
                  </a:txBody>
                  <a:tcPr marT="19050" marB="19050" marR="28575" marL="28575" anchor="b">
                    <a:lnL cap="flat" cmpd="sng" w="1057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057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057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057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/>
                        <a:t>Ceará, Piauí, Maranhão, Pará, Amapá, Amazonas, Roraima e Acre</a:t>
                      </a:r>
                      <a:endParaRPr sz="1000"/>
                    </a:p>
                  </a:txBody>
                  <a:tcPr marT="19050" marB="19050" marR="91425" marL="91425" anchor="b">
                    <a:lnL cap="flat" cmpd="sng" w="1057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0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057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057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6300"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/>
                        <a:t>7</a:t>
                      </a:r>
                      <a:endParaRPr sz="1000"/>
                    </a:p>
                  </a:txBody>
                  <a:tcPr marT="19050" marB="19050" marR="28575" marL="28575" anchor="b">
                    <a:lnL cap="flat" cmpd="sng" w="1057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057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057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057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/>
                        <a:t>Distrito Federal, Goiás, Tocantins, Mato Grosso e Mato Grosso do Sul</a:t>
                      </a:r>
                      <a:endParaRPr sz="1000"/>
                    </a:p>
                  </a:txBody>
                  <a:tcPr marT="19050" marB="19050" marR="91425" marL="91425" anchor="b">
                    <a:lnL cap="flat" cmpd="sng" w="1057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0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057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057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6300"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/>
                        <a:t>8</a:t>
                      </a:r>
                      <a:endParaRPr sz="1000"/>
                    </a:p>
                  </a:txBody>
                  <a:tcPr marT="19050" marB="19050" marR="28575" marL="28575" anchor="b">
                    <a:lnL cap="flat" cmpd="sng" w="1057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057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057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057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/>
                        <a:t>Paraná e Santa Catarina</a:t>
                      </a:r>
                      <a:endParaRPr sz="1000"/>
                    </a:p>
                  </a:txBody>
                  <a:tcPr marT="19050" marB="19050" marR="91425" marL="91425" anchor="b">
                    <a:lnL cap="flat" cmpd="sng" w="1057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0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057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057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6300"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/>
                        <a:t>9</a:t>
                      </a:r>
                      <a:endParaRPr sz="1000"/>
                    </a:p>
                  </a:txBody>
                  <a:tcPr marT="19050" marB="19050" marR="28575" marL="28575" anchor="b">
                    <a:lnL cap="flat" cmpd="sng" w="1057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057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057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057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/>
                        <a:t>Rio Grande do Sul</a:t>
                      </a:r>
                      <a:endParaRPr sz="1000"/>
                    </a:p>
                  </a:txBody>
                  <a:tcPr marT="19050" marB="19050" marR="91425" marL="91425" anchor="b">
                    <a:lnL cap="flat" cmpd="sng" w="1057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0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057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057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19"/>
          <p:cNvSpPr txBox="1"/>
          <p:nvPr>
            <p:ph type="title"/>
          </p:nvPr>
        </p:nvSpPr>
        <p:spPr>
          <a:xfrm>
            <a:off x="311725" y="500925"/>
            <a:ext cx="8520600" cy="623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None/>
            </a:pPr>
            <a:r>
              <a:rPr lang="pt-BR" sz="4400">
                <a:latin typeface="Calibri"/>
                <a:ea typeface="Calibri"/>
                <a:cs typeface="Calibri"/>
                <a:sym typeface="Calibri"/>
              </a:rPr>
              <a:t>Descrição da Solução</a:t>
            </a:r>
            <a:endParaRPr/>
          </a:p>
        </p:txBody>
      </p:sp>
      <p:graphicFrame>
        <p:nvGraphicFramePr>
          <p:cNvPr id="101" name="Google Shape;101;p19"/>
          <p:cNvGraphicFramePr/>
          <p:nvPr/>
        </p:nvGraphicFramePr>
        <p:xfrm>
          <a:off x="952500" y="14287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{62E9DA21-A6E6-407A-B518-5656F22B945E}</a:tableStyleId>
              </a:tblPr>
              <a:tblGrid>
                <a:gridCol w="1497575"/>
                <a:gridCol w="1497575"/>
                <a:gridCol w="1497575"/>
                <a:gridCol w="1497575"/>
                <a:gridCol w="1497575"/>
              </a:tblGrid>
              <a:tr h="44800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/>
                        <a:t>Posição</a:t>
                      </a:r>
                      <a:endParaRPr sz="1000"/>
                    </a:p>
                  </a:txBody>
                  <a:tcPr marT="19050" marB="19050" marR="28575" marL="28575" anchor="b">
                    <a:lnL cap="flat" cmpd="sng" w="1057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057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057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057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/>
                        <a:t>Nome</a:t>
                      </a:r>
                      <a:endParaRPr sz="1000"/>
                    </a:p>
                  </a:txBody>
                  <a:tcPr marT="19050" marB="19050" marR="28575" marL="28575" anchor="b">
                    <a:lnL cap="flat" cmpd="sng" w="1057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057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057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057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/>
                        <a:t>Descrição Técnica</a:t>
                      </a:r>
                      <a:endParaRPr sz="1000"/>
                    </a:p>
                  </a:txBody>
                  <a:tcPr marT="19050" marB="19050" marR="28575" marL="28575" anchor="b">
                    <a:lnL cap="flat" cmpd="sng" w="1057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057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057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057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/>
                        <a:t>Exemplo (01001-000)</a:t>
                      </a:r>
                      <a:endParaRPr sz="1000"/>
                    </a:p>
                  </a:txBody>
                  <a:tcPr marT="19050" marB="19050" marR="91425" marL="91425" anchor="b">
                    <a:lnL cap="flat" cmpd="sng" w="1057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0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057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057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19050" marB="19050" marR="28575" marL="28575" anchor="b">
                    <a:lnL cap="flat" cmpd="sng" w="10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057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057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057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4800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/>
                        <a:t>1º Dígito</a:t>
                      </a:r>
                      <a:endParaRPr sz="1000"/>
                    </a:p>
                  </a:txBody>
                  <a:tcPr marT="19050" marB="19050" marR="28575" marL="28575" anchor="b">
                    <a:lnL cap="flat" cmpd="sng" w="1057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057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057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057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/>
                        <a:t>Região</a:t>
                      </a:r>
                      <a:endParaRPr sz="1000"/>
                    </a:p>
                  </a:txBody>
                  <a:tcPr marT="19050" marB="19050" marR="28575" marL="28575" anchor="b">
                    <a:lnL cap="flat" cmpd="sng" w="1057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057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057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057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/>
                        <a:t>Uma das 10 grandes áreas do Brasil.</a:t>
                      </a:r>
                      <a:endParaRPr sz="1000"/>
                    </a:p>
                  </a:txBody>
                  <a:tcPr marT="19050" marB="19050" marR="28575" marL="28575" anchor="b">
                    <a:lnL cap="flat" cmpd="sng" w="1057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057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057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057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/>
                        <a:t>0 (Grande São Paulo)</a:t>
                      </a:r>
                      <a:endParaRPr sz="1000"/>
                    </a:p>
                  </a:txBody>
                  <a:tcPr marT="19050" marB="19050" marR="91425" marL="91425" anchor="b">
                    <a:lnL cap="flat" cmpd="sng" w="1057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0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057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057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19050" marB="19050" marR="28575" marL="28575" anchor="b">
                    <a:lnL cap="flat" cmpd="sng" w="10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057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057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057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4800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/>
                        <a:t>2º Dígito</a:t>
                      </a:r>
                      <a:endParaRPr sz="1000"/>
                    </a:p>
                  </a:txBody>
                  <a:tcPr marT="19050" marB="19050" marR="28575" marL="28575" anchor="b">
                    <a:lnL cap="flat" cmpd="sng" w="1057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057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057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057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/>
                        <a:t>Sub-região</a:t>
                      </a:r>
                      <a:endParaRPr sz="1000"/>
                    </a:p>
                  </a:txBody>
                  <a:tcPr marT="19050" marB="19050" marR="28575" marL="28575" anchor="b">
                    <a:lnL cap="flat" cmpd="sng" w="1057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057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057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057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/>
                        <a:t>Refinamento geográfico dentro da região.</a:t>
                      </a:r>
                      <a:endParaRPr sz="1000"/>
                    </a:p>
                  </a:txBody>
                  <a:tcPr marT="19050" marB="19050" marR="28575" marL="28575" anchor="b">
                    <a:lnL cap="flat" cmpd="sng" w="1057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057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057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057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/>
                        <a:t>1 (Interior da Grande SP)</a:t>
                      </a:r>
                      <a:endParaRPr sz="1000"/>
                    </a:p>
                  </a:txBody>
                  <a:tcPr marT="19050" marB="19050" marR="91425" marL="91425" anchor="b">
                    <a:lnL cap="flat" cmpd="sng" w="1057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0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057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057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19050" marB="19050" marR="28575" marL="28575" anchor="b">
                    <a:lnL cap="flat" cmpd="sng" w="10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057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057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057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4800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/>
                        <a:t>3º Dígito</a:t>
                      </a:r>
                      <a:endParaRPr sz="1000"/>
                    </a:p>
                  </a:txBody>
                  <a:tcPr marT="19050" marB="19050" marR="28575" marL="28575" anchor="b">
                    <a:lnL cap="flat" cmpd="sng" w="1057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057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057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057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/>
                        <a:t>Setor</a:t>
                      </a:r>
                      <a:endParaRPr sz="1000"/>
                    </a:p>
                  </a:txBody>
                  <a:tcPr marT="19050" marB="19050" marR="28575" marL="28575" anchor="b">
                    <a:lnL cap="flat" cmpd="sng" w="1057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057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057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057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/>
                        <a:t>Área específica de distribuição.</a:t>
                      </a:r>
                      <a:endParaRPr sz="1000"/>
                    </a:p>
                  </a:txBody>
                  <a:tcPr marT="19050" marB="19050" marR="28575" marL="28575" anchor="b">
                    <a:lnL cap="flat" cmpd="sng" w="1057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057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057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057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/>
                        <a:t>0 (Centro de SP)</a:t>
                      </a:r>
                      <a:endParaRPr sz="1000"/>
                    </a:p>
                  </a:txBody>
                  <a:tcPr marT="19050" marB="19050" marR="91425" marL="91425" anchor="b">
                    <a:lnL cap="flat" cmpd="sng" w="1057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0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057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057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19050" marB="19050" marR="28575" marL="28575" anchor="b">
                    <a:lnL cap="flat" cmpd="sng" w="10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057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057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057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4800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/>
                        <a:t>4º/5º Dígitos</a:t>
                      </a:r>
                      <a:endParaRPr sz="1000"/>
                    </a:p>
                  </a:txBody>
                  <a:tcPr marT="19050" marB="19050" marR="28575" marL="28575" anchor="b">
                    <a:lnL cap="flat" cmpd="sng" w="1057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057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057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057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/>
                        <a:t>Subsetor</a:t>
                      </a:r>
                      <a:endParaRPr sz="1000"/>
                    </a:p>
                  </a:txBody>
                  <a:tcPr marT="19050" marB="19050" marR="28575" marL="28575" anchor="b">
                    <a:lnL cap="flat" cmpd="sng" w="1057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057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057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057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/>
                        <a:t>Delimitação de bairros ou distritos.</a:t>
                      </a:r>
                      <a:endParaRPr sz="1000"/>
                    </a:p>
                  </a:txBody>
                  <a:tcPr marT="19050" marB="19050" marR="28575" marL="28575" anchor="b">
                    <a:lnL cap="flat" cmpd="sng" w="1057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057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057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057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/>
                        <a:t>01 (Sé / Centro Histórico)</a:t>
                      </a:r>
                      <a:endParaRPr sz="1000"/>
                    </a:p>
                  </a:txBody>
                  <a:tcPr marT="19050" marB="19050" marR="91425" marL="91425" anchor="b">
                    <a:lnL cap="flat" cmpd="sng" w="1057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0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057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057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19050" marB="19050" marR="28575" marL="28575" anchor="b">
                    <a:lnL cap="flat" cmpd="sng" w="10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057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057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057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4800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/>
                        <a:t>Sufixo (3 últimos)</a:t>
                      </a:r>
                      <a:endParaRPr sz="1000"/>
                    </a:p>
                  </a:txBody>
                  <a:tcPr marT="19050" marB="19050" marR="28575" marL="28575" anchor="b">
                    <a:lnL cap="flat" cmpd="sng" w="1057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057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057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057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/>
                        <a:t>Identificador</a:t>
                      </a:r>
                      <a:endParaRPr sz="1000"/>
                    </a:p>
                  </a:txBody>
                  <a:tcPr marT="19050" marB="19050" marR="28575" marL="28575" anchor="b">
                    <a:lnL cap="flat" cmpd="sng" w="1057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057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057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057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/>
                        <a:t>Rua, avenida, prédio ou empresa específica.</a:t>
                      </a:r>
                      <a:endParaRPr sz="1000"/>
                    </a:p>
                  </a:txBody>
                  <a:tcPr marT="19050" marB="19050" marR="28575" marL="28575" anchor="b">
                    <a:lnL cap="flat" cmpd="sng" w="1057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057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057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057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00"/>
                        <a:t>000 (Ponto exato de entrega)</a:t>
                      </a:r>
                      <a:endParaRPr sz="1000"/>
                    </a:p>
                  </a:txBody>
                  <a:tcPr marT="19050" marB="19050" marR="91425" marL="91425" anchor="b">
                    <a:lnL cap="flat" cmpd="sng" w="1057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0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057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057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19050" marB="19050" marR="28575" marL="28575" anchor="b">
                    <a:lnL cap="flat" cmpd="sng" w="10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057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057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057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20"/>
          <p:cNvSpPr txBox="1"/>
          <p:nvPr>
            <p:ph type="title"/>
          </p:nvPr>
        </p:nvSpPr>
        <p:spPr>
          <a:xfrm>
            <a:off x="311725" y="500925"/>
            <a:ext cx="8520600" cy="623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None/>
            </a:pPr>
            <a:r>
              <a:rPr lang="pt-BR" sz="4400">
                <a:latin typeface="Calibri"/>
                <a:ea typeface="Calibri"/>
                <a:cs typeface="Calibri"/>
                <a:sym typeface="Calibri"/>
              </a:rPr>
              <a:t>Descrição da Solução</a:t>
            </a:r>
            <a:endParaRPr/>
          </a:p>
        </p:txBody>
      </p:sp>
      <p:sp>
        <p:nvSpPr>
          <p:cNvPr id="107" name="Google Shape;107;p20"/>
          <p:cNvSpPr txBox="1"/>
          <p:nvPr/>
        </p:nvSpPr>
        <p:spPr>
          <a:xfrm>
            <a:off x="446025" y="1611975"/>
            <a:ext cx="8315100" cy="14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1100"/>
              <a:t>O Conceito de Peso Taxável</a:t>
            </a:r>
            <a:endParaRPr b="1" sz="1100"/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Char char="●"/>
            </a:pPr>
            <a:r>
              <a:rPr lang="pt-BR" sz="1100"/>
              <a:t>O serviço não calcula o frete apenas pelo peso na balança (kg).</a:t>
            </a:r>
            <a:endParaRPr sz="1100"/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pt-BR" sz="1100"/>
              <a:t>Ele avalia o </a:t>
            </a:r>
            <a:r>
              <a:rPr b="1" lang="pt-BR" sz="1100"/>
              <a:t>espaço ocupado</a:t>
            </a:r>
            <a:r>
              <a:rPr lang="pt-BR" sz="1100"/>
              <a:t> (cm³) para garantir a rentabilidade do transporte.</a:t>
            </a:r>
            <a:endParaRPr sz="1100"/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b="1" lang="pt-BR" sz="1100"/>
              <a:t>Regra de Ouro:</a:t>
            </a:r>
            <a:r>
              <a:rPr lang="pt-BR" sz="1100"/>
              <a:t> O frete é cobrado sobre o </a:t>
            </a:r>
            <a:r>
              <a:rPr b="1" lang="pt-BR" sz="1100"/>
              <a:t>maior valor</a:t>
            </a:r>
            <a:r>
              <a:rPr lang="pt-BR" sz="1100"/>
              <a:t> entre Peso Real e Peso Cubado.</a:t>
            </a:r>
            <a:endParaRPr sz="11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3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08" name="Google Shape;108;p20" title="Gemini_Generated_Image_cniszdcniszdcnis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52325" y="2639425"/>
            <a:ext cx="3358669" cy="25040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1"/>
          <p:cNvSpPr txBox="1"/>
          <p:nvPr>
            <p:ph type="title"/>
          </p:nvPr>
        </p:nvSpPr>
        <p:spPr>
          <a:xfrm>
            <a:off x="311725" y="500925"/>
            <a:ext cx="8520600" cy="623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None/>
            </a:pPr>
            <a:r>
              <a:rPr lang="pt-BR" sz="4400">
                <a:latin typeface="Calibri"/>
                <a:ea typeface="Calibri"/>
                <a:cs typeface="Calibri"/>
                <a:sym typeface="Calibri"/>
              </a:rPr>
              <a:t>Descrição da Solução</a:t>
            </a:r>
            <a:endParaRPr/>
          </a:p>
        </p:txBody>
      </p:sp>
      <p:sp>
        <p:nvSpPr>
          <p:cNvPr id="114" name="Google Shape;114;p21"/>
          <p:cNvSpPr txBox="1"/>
          <p:nvPr/>
        </p:nvSpPr>
        <p:spPr>
          <a:xfrm>
            <a:off x="446025" y="1611975"/>
            <a:ext cx="8315100" cy="2030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1100"/>
              <a:t>3. Fluxo de Decisão(Lógica de Reuso)</a:t>
            </a:r>
            <a:endParaRPr b="1" sz="1100"/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Char char="●"/>
            </a:pPr>
            <a:r>
              <a:rPr b="1" lang="pt-BR" sz="1100"/>
              <a:t>Input:</a:t>
            </a:r>
            <a:r>
              <a:rPr lang="pt-BR" sz="1100"/>
              <a:t> Dimensões + Peso + Distância (CEP).</a:t>
            </a:r>
            <a:endParaRPr sz="1100"/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pt-BR" sz="1100"/>
              <a:t>Processamento: 1. Calcula Volume Total (cm³).</a:t>
            </a:r>
            <a:br>
              <a:rPr lang="pt-BR" sz="1100"/>
            </a:br>
            <a:r>
              <a:rPr lang="pt-BR" sz="1100"/>
              <a:t>2. Aplica Fator de Cubagem.</a:t>
            </a:r>
            <a:br>
              <a:rPr lang="pt-BR" sz="1100"/>
            </a:br>
            <a:r>
              <a:rPr lang="pt-BR" sz="1100"/>
              <a:t>3. Peso_Taxavel = max(Peso_Real, Peso_Cubado)</a:t>
            </a:r>
            <a:endParaRPr sz="1100"/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b="1" lang="pt-BR" sz="1100"/>
              <a:t>Output:</a:t>
            </a:r>
            <a:r>
              <a:rPr lang="pt-BR" sz="1100"/>
              <a:t> Preço Final baseado na tabela da transportadora selecionada (</a:t>
            </a:r>
            <a:r>
              <a:rPr b="1" lang="pt-BR" sz="1100"/>
              <a:t>Strategy Pattern</a:t>
            </a:r>
            <a:r>
              <a:rPr lang="pt-BR" sz="1100"/>
              <a:t>).</a:t>
            </a:r>
            <a:endParaRPr sz="11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3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1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2"/>
          <p:cNvSpPr txBox="1"/>
          <p:nvPr>
            <p:ph type="title"/>
          </p:nvPr>
        </p:nvSpPr>
        <p:spPr>
          <a:xfrm>
            <a:off x="311725" y="500925"/>
            <a:ext cx="8520600" cy="623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None/>
            </a:pPr>
            <a:r>
              <a:rPr lang="pt-BR" sz="4400">
                <a:latin typeface="Calibri"/>
                <a:ea typeface="Calibri"/>
                <a:cs typeface="Calibri"/>
                <a:sym typeface="Calibri"/>
              </a:rPr>
              <a:t>Fluxo de Funcionamento</a:t>
            </a:r>
            <a:endParaRPr/>
          </a:p>
        </p:txBody>
      </p:sp>
      <p:sp>
        <p:nvSpPr>
          <p:cNvPr id="120" name="Google Shape;120;p22"/>
          <p:cNvSpPr txBox="1"/>
          <p:nvPr>
            <p:ph idx="4294967295" type="body"/>
          </p:nvPr>
        </p:nvSpPr>
        <p:spPr>
          <a:xfrm>
            <a:off x="457200" y="1292900"/>
            <a:ext cx="8229600" cy="3301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323850" lvl="0" marL="457200" rtl="0" algn="l"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Char char="●"/>
            </a:pPr>
            <a:r>
              <a:rPr lang="pt-BR" sz="15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Recebimento dos dados de frete por meio da </a:t>
            </a:r>
            <a:r>
              <a:rPr b="1" lang="pt-BR" sz="15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API REST</a:t>
            </a:r>
            <a:r>
              <a:rPr lang="pt-BR" sz="15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br>
              <a:rPr lang="pt-BR" sz="15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endParaRPr sz="15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Char char="●"/>
            </a:pPr>
            <a:r>
              <a:rPr b="1" lang="pt-BR" sz="15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Validação dos dados de entrada</a:t>
            </a:r>
            <a:r>
              <a:rPr lang="pt-BR" sz="15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para garantir consistência e integridade das informações.</a:t>
            </a:r>
            <a:br>
              <a:rPr lang="pt-BR" sz="15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endParaRPr sz="15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Char char="●"/>
            </a:pPr>
            <a:r>
              <a:rPr b="1" lang="pt-BR" sz="15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Cálculo da distância entre os CEPs</a:t>
            </a:r>
            <a:r>
              <a:rPr lang="pt-BR" sz="15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de origem e destino.</a:t>
            </a:r>
            <a:br>
              <a:rPr lang="pt-BR" sz="15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endParaRPr sz="15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Char char="●"/>
            </a:pPr>
            <a:r>
              <a:rPr b="1" lang="pt-BR" sz="15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Aplicação das regras de negócio</a:t>
            </a:r>
            <a:r>
              <a:rPr lang="pt-BR" sz="15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e dos </a:t>
            </a:r>
            <a:r>
              <a:rPr b="1" lang="pt-BR" sz="15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serviços adicionais</a:t>
            </a:r>
            <a:r>
              <a:rPr lang="pt-BR" sz="15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configurados (ex.: seguro, desconto).</a:t>
            </a:r>
            <a:br>
              <a:rPr lang="pt-BR" sz="15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endParaRPr sz="15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Char char="●"/>
            </a:pPr>
            <a:r>
              <a:rPr lang="pt-BR" sz="15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Retorno ao cliente do </a:t>
            </a:r>
            <a:r>
              <a:rPr b="1" lang="pt-BR" sz="15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custo total do frete</a:t>
            </a:r>
            <a:r>
              <a:rPr lang="pt-BR" sz="15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e do </a:t>
            </a:r>
            <a:r>
              <a:rPr b="1" lang="pt-BR" sz="15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prazo estimado de entrega</a:t>
            </a:r>
            <a:r>
              <a:rPr lang="pt-BR" sz="15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23"/>
          <p:cNvSpPr txBox="1"/>
          <p:nvPr>
            <p:ph type="title"/>
          </p:nvPr>
        </p:nvSpPr>
        <p:spPr>
          <a:xfrm>
            <a:off x="311725" y="500925"/>
            <a:ext cx="8520600" cy="623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None/>
            </a:pPr>
            <a:r>
              <a:rPr lang="pt-BR" sz="4400">
                <a:latin typeface="Calibri"/>
                <a:ea typeface="Calibri"/>
                <a:cs typeface="Calibri"/>
                <a:sym typeface="Calibri"/>
              </a:rPr>
              <a:t>Fluxo de Funcionamento</a:t>
            </a:r>
            <a:endParaRPr/>
          </a:p>
        </p:txBody>
      </p:sp>
      <p:pic>
        <p:nvPicPr>
          <p:cNvPr id="126" name="Google Shape;126;p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28450" y="1273750"/>
            <a:ext cx="5256450" cy="38697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24"/>
          <p:cNvSpPr txBox="1"/>
          <p:nvPr>
            <p:ph type="title"/>
          </p:nvPr>
        </p:nvSpPr>
        <p:spPr>
          <a:xfrm>
            <a:off x="311725" y="500925"/>
            <a:ext cx="8520600" cy="623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None/>
            </a:pPr>
            <a:r>
              <a:rPr lang="pt-BR" sz="4400">
                <a:highlight>
                  <a:schemeClr val="dk1"/>
                </a:highlight>
                <a:latin typeface="Calibri"/>
                <a:ea typeface="Calibri"/>
                <a:cs typeface="Calibri"/>
                <a:sym typeface="Calibri"/>
              </a:rPr>
              <a:t>API REST</a:t>
            </a:r>
            <a:endParaRPr>
              <a:highlight>
                <a:schemeClr val="dk1"/>
              </a:highlight>
            </a:endParaRPr>
          </a:p>
        </p:txBody>
      </p:sp>
      <p:sp>
        <p:nvSpPr>
          <p:cNvPr id="132" name="Google Shape;132;p24"/>
          <p:cNvSpPr txBox="1"/>
          <p:nvPr>
            <p:ph idx="4294967295" type="body"/>
          </p:nvPr>
        </p:nvSpPr>
        <p:spPr>
          <a:xfrm>
            <a:off x="457200" y="1346925"/>
            <a:ext cx="8229600" cy="33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54000" lvl="0" marL="3429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pt-BR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Endpoint: /api/freight/calculate</a:t>
            </a:r>
            <a:endParaRPr sz="1800"/>
          </a:p>
          <a:p>
            <a:pPr indent="-254000" lvl="0" marL="34290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pt-BR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Método: POST</a:t>
            </a:r>
            <a:endParaRPr sz="1800"/>
          </a:p>
          <a:p>
            <a:pPr indent="-254000" lvl="0" marL="34290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pt-BR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Formato de dados: JSON</a:t>
            </a:r>
            <a:endParaRPr sz="1800"/>
          </a:p>
          <a:p>
            <a:pPr indent="-254000" lvl="0" marL="342900" rtl="0" algn="l">
              <a:spcBef>
                <a:spcPts val="640"/>
              </a:spcBef>
              <a:spcAft>
                <a:spcPts val="1200"/>
              </a:spcAft>
              <a:buClr>
                <a:schemeClr val="dk1"/>
              </a:buClr>
              <a:buSzPts val="1800"/>
              <a:buChar char="●"/>
            </a:pPr>
            <a:r>
              <a:rPr lang="pt-BR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Uso de DTOs e validações</a:t>
            </a:r>
            <a:endParaRPr sz="18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25"/>
          <p:cNvSpPr txBox="1"/>
          <p:nvPr>
            <p:ph type="title"/>
          </p:nvPr>
        </p:nvSpPr>
        <p:spPr>
          <a:xfrm>
            <a:off x="311725" y="500925"/>
            <a:ext cx="8520600" cy="623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None/>
            </a:pPr>
            <a:r>
              <a:rPr lang="pt-BR" sz="4400">
                <a:latin typeface="Calibri"/>
                <a:ea typeface="Calibri"/>
                <a:cs typeface="Calibri"/>
                <a:sym typeface="Calibri"/>
              </a:rPr>
              <a:t>Arquitetura do Sistema</a:t>
            </a:r>
            <a:endParaRPr/>
          </a:p>
        </p:txBody>
      </p:sp>
      <p:sp>
        <p:nvSpPr>
          <p:cNvPr id="138" name="Google Shape;138;p25"/>
          <p:cNvSpPr txBox="1"/>
          <p:nvPr>
            <p:ph idx="4294967295" type="body"/>
          </p:nvPr>
        </p:nvSpPr>
        <p:spPr>
          <a:xfrm>
            <a:off x="457200" y="1200150"/>
            <a:ext cx="8229600" cy="33944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412750" lvl="0" marL="45720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2900"/>
              <a:buChar char="●"/>
            </a:pPr>
            <a:r>
              <a:rPr lang="pt-BR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O sistema foi projetado seguindo uma </a:t>
            </a:r>
            <a:r>
              <a:rPr b="1" lang="pt-BR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arquitetura em camadas</a:t>
            </a:r>
            <a:r>
              <a:rPr lang="pt-BR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, promovendo separação de responsabilidades.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412750" lvl="0" marL="45720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900"/>
              <a:buChar char="●"/>
            </a:pPr>
            <a:r>
              <a:rPr lang="pt-BR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 solução é organizada nas camadas de </a:t>
            </a:r>
            <a:r>
              <a:rPr b="1" lang="pt-BR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Controller, Service, Domínio e Integração</a:t>
            </a:r>
            <a:r>
              <a:rPr lang="pt-BR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, cada uma com papéis bem definidos.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412750" lvl="0" marL="457200" rtl="0" algn="l"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2900"/>
              <a:buChar char="●"/>
            </a:pPr>
            <a:r>
              <a:rPr lang="pt-BR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 comunicação entre aplicações clientes e o microserviço ocorre exclusivamente por meio de uma </a:t>
            </a:r>
            <a:r>
              <a:rPr b="1" lang="pt-BR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API REST</a:t>
            </a:r>
            <a:r>
              <a:rPr lang="pt-BR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, garantindo desacoplamento e interoperabilidade.</a:t>
            </a:r>
            <a:endParaRPr sz="2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26"/>
          <p:cNvSpPr txBox="1"/>
          <p:nvPr>
            <p:ph type="title"/>
          </p:nvPr>
        </p:nvSpPr>
        <p:spPr>
          <a:xfrm>
            <a:off x="311725" y="500925"/>
            <a:ext cx="8520600" cy="623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None/>
            </a:pPr>
            <a:r>
              <a:rPr lang="pt-BR" sz="4400">
                <a:latin typeface="Calibri"/>
                <a:ea typeface="Calibri"/>
                <a:cs typeface="Calibri"/>
                <a:sym typeface="Calibri"/>
              </a:rPr>
              <a:t>Arquitetura do Sistema</a:t>
            </a:r>
            <a:endParaRPr/>
          </a:p>
        </p:txBody>
      </p:sp>
      <p:sp>
        <p:nvSpPr>
          <p:cNvPr id="144" name="Google Shape;144;p26"/>
          <p:cNvSpPr txBox="1"/>
          <p:nvPr/>
        </p:nvSpPr>
        <p:spPr>
          <a:xfrm>
            <a:off x="694900" y="1273750"/>
            <a:ext cx="4467000" cy="3828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>
                <a:solidFill>
                  <a:srgbClr val="212120"/>
                </a:solidFill>
                <a:highlight>
                  <a:schemeClr val="lt1"/>
                </a:highlight>
              </a:rPr>
              <a:t>├── src/main/java/com/example/freight/     </a:t>
            </a:r>
            <a:endParaRPr sz="900">
              <a:solidFill>
                <a:srgbClr val="212120"/>
              </a:solidFill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>
                <a:solidFill>
                  <a:srgbClr val="212120"/>
                </a:solidFill>
                <a:highlight>
                  <a:schemeClr val="lt1"/>
                </a:highlight>
              </a:rPr>
              <a:t>│ ├── controller/</a:t>
            </a:r>
            <a:endParaRPr sz="900">
              <a:solidFill>
                <a:srgbClr val="212120"/>
              </a:solidFill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>
                <a:solidFill>
                  <a:srgbClr val="212120"/>
                </a:solidFill>
                <a:highlight>
                  <a:schemeClr val="lt1"/>
                </a:highlight>
              </a:rPr>
              <a:t>│ │ └── FreightController.java</a:t>
            </a:r>
            <a:endParaRPr sz="900">
              <a:solidFill>
                <a:srgbClr val="212120"/>
              </a:solidFill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>
                <a:solidFill>
                  <a:srgbClr val="212120"/>
                </a:solidFill>
                <a:highlight>
                  <a:schemeClr val="lt1"/>
                </a:highlight>
              </a:rPr>
              <a:t>│ ├── dto/</a:t>
            </a:r>
            <a:endParaRPr sz="900">
              <a:solidFill>
                <a:srgbClr val="212120"/>
              </a:solidFill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>
                <a:solidFill>
                  <a:srgbClr val="212120"/>
                </a:solidFill>
                <a:highlight>
                  <a:schemeClr val="lt1"/>
                </a:highlight>
              </a:rPr>
              <a:t>│ │ ├── FreightRequest.java</a:t>
            </a:r>
            <a:endParaRPr sz="900">
              <a:solidFill>
                <a:srgbClr val="212120"/>
              </a:solidFill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>
                <a:solidFill>
                  <a:srgbClr val="212120"/>
                </a:solidFill>
                <a:highlight>
                  <a:schemeClr val="lt1"/>
                </a:highlight>
              </a:rPr>
              <a:t>│ │ └── FreightResponse.java</a:t>
            </a:r>
            <a:endParaRPr sz="900">
              <a:solidFill>
                <a:srgbClr val="212120"/>
              </a:solidFill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>
                <a:solidFill>
                  <a:srgbClr val="212120"/>
                </a:solidFill>
                <a:highlight>
                  <a:schemeClr val="lt1"/>
                </a:highlight>
              </a:rPr>
              <a:t>│ ├── enums/</a:t>
            </a:r>
            <a:endParaRPr sz="900">
              <a:solidFill>
                <a:srgbClr val="212120"/>
              </a:solidFill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>
                <a:solidFill>
                  <a:srgbClr val="212120"/>
                </a:solidFill>
                <a:highlight>
                  <a:schemeClr val="lt1"/>
                </a:highlight>
              </a:rPr>
              <a:t>│ │ ├── CarrierType.java</a:t>
            </a:r>
            <a:endParaRPr sz="900">
              <a:solidFill>
                <a:srgbClr val="212120"/>
              </a:solidFill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>
                <a:solidFill>
                  <a:srgbClr val="212120"/>
                </a:solidFill>
                <a:highlight>
                  <a:schemeClr val="lt1"/>
                </a:highlight>
              </a:rPr>
              <a:t>│ │ ├── DeliveryMode.java</a:t>
            </a:r>
            <a:endParaRPr sz="900">
              <a:solidFill>
                <a:srgbClr val="212120"/>
              </a:solidFill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>
                <a:solidFill>
                  <a:srgbClr val="212120"/>
                </a:solidFill>
                <a:highlight>
                  <a:schemeClr val="lt1"/>
                </a:highlight>
              </a:rPr>
              <a:t>│ │ ├── ExtraServiceType.java</a:t>
            </a:r>
            <a:endParaRPr sz="900">
              <a:solidFill>
                <a:srgbClr val="212120"/>
              </a:solidFill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>
                <a:solidFill>
                  <a:srgbClr val="212120"/>
                </a:solidFill>
                <a:highlight>
                  <a:schemeClr val="lt1"/>
                </a:highlight>
              </a:rPr>
              <a:t>│ │ └── ShippingModality.java</a:t>
            </a:r>
            <a:endParaRPr sz="900">
              <a:solidFill>
                <a:srgbClr val="212120"/>
              </a:solidFill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>
                <a:solidFill>
                  <a:srgbClr val="212120"/>
                </a:solidFill>
                <a:highlight>
                  <a:schemeClr val="lt1"/>
                </a:highlight>
              </a:rPr>
              <a:t>│ ├── factory/</a:t>
            </a:r>
            <a:endParaRPr sz="900">
              <a:solidFill>
                <a:srgbClr val="212120"/>
              </a:solidFill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>
                <a:solidFill>
                  <a:srgbClr val="212120"/>
                </a:solidFill>
                <a:highlight>
                  <a:schemeClr val="lt1"/>
                </a:highlight>
              </a:rPr>
              <a:t>│ │ └── FreightStrategyFactory.java</a:t>
            </a:r>
            <a:endParaRPr sz="900">
              <a:solidFill>
                <a:srgbClr val="212120"/>
              </a:solidFill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>
                <a:solidFill>
                  <a:srgbClr val="212120"/>
                </a:solidFill>
                <a:highlight>
                  <a:schemeClr val="lt1"/>
                </a:highlight>
              </a:rPr>
              <a:t>│ ├── policy/</a:t>
            </a:r>
            <a:endParaRPr sz="900">
              <a:solidFill>
                <a:srgbClr val="212120"/>
              </a:solidFill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>
                <a:solidFill>
                  <a:srgbClr val="212120"/>
                </a:solidFill>
                <a:highlight>
                  <a:schemeClr val="lt1"/>
                </a:highlight>
              </a:rPr>
              <a:t>│ │ ├── CostPolicy.java</a:t>
            </a:r>
            <a:endParaRPr sz="900">
              <a:solidFill>
                <a:srgbClr val="212120"/>
              </a:solidFill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>
                <a:solidFill>
                  <a:srgbClr val="212120"/>
                </a:solidFill>
                <a:highlight>
                  <a:schemeClr val="lt1"/>
                </a:highlight>
              </a:rPr>
              <a:t>│ │ ├── DiscountPolicy.java</a:t>
            </a:r>
            <a:endParaRPr sz="900">
              <a:solidFill>
                <a:srgbClr val="212120"/>
              </a:solidFill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>
                <a:solidFill>
                  <a:srgbClr val="212120"/>
                </a:solidFill>
                <a:highlight>
                  <a:schemeClr val="lt1"/>
                </a:highlight>
              </a:rPr>
              <a:t>│ │ ├── InsurancePolicy.java</a:t>
            </a:r>
            <a:endParaRPr sz="900">
              <a:solidFill>
                <a:srgbClr val="212120"/>
              </a:solidFill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>
                <a:solidFill>
                  <a:srgbClr val="212120"/>
                </a:solidFill>
                <a:highlight>
                  <a:schemeClr val="lt1"/>
                </a:highlight>
              </a:rPr>
              <a:t>│ │ └── SaturdayDeliveryPolicy.java</a:t>
            </a:r>
            <a:endParaRPr sz="900">
              <a:solidFill>
                <a:srgbClr val="212120"/>
              </a:solidFill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>
                <a:solidFill>
                  <a:srgbClr val="212120"/>
                </a:solidFill>
                <a:highlight>
                  <a:schemeClr val="lt1"/>
                </a:highlight>
              </a:rPr>
              <a:t>│ ├── service/</a:t>
            </a:r>
            <a:endParaRPr sz="900">
              <a:solidFill>
                <a:srgbClr val="212120"/>
              </a:solidFill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>
                <a:solidFill>
                  <a:srgbClr val="212120"/>
                </a:solidFill>
                <a:highlight>
                  <a:schemeClr val="lt1"/>
                </a:highlight>
              </a:rPr>
              <a:t>│ │ ├── DistanceService.java</a:t>
            </a:r>
            <a:endParaRPr sz="900">
              <a:solidFill>
                <a:srgbClr val="212120"/>
              </a:solidFill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>
                <a:solidFill>
                  <a:srgbClr val="212120"/>
                </a:solidFill>
                <a:highlight>
                  <a:schemeClr val="lt1"/>
                </a:highlight>
              </a:rPr>
              <a:t>│ │ ├── FreightResult.java</a:t>
            </a:r>
            <a:endParaRPr sz="900">
              <a:solidFill>
                <a:srgbClr val="212120"/>
              </a:solidFill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>
                <a:solidFill>
                  <a:srgbClr val="212120"/>
                </a:solidFill>
                <a:highlight>
                  <a:schemeClr val="lt1"/>
                </a:highlight>
              </a:rPr>
              <a:t>│ │ └── FreightService.java</a:t>
            </a:r>
            <a:endParaRPr sz="900">
              <a:solidFill>
                <a:srgbClr val="212120"/>
              </a:solidFill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00">
              <a:solidFill>
                <a:srgbClr val="212120"/>
              </a:solidFill>
              <a:highlight>
                <a:schemeClr val="lt1"/>
              </a:highlight>
            </a:endParaRPr>
          </a:p>
        </p:txBody>
      </p:sp>
      <p:sp>
        <p:nvSpPr>
          <p:cNvPr id="145" name="Google Shape;145;p26"/>
          <p:cNvSpPr txBox="1"/>
          <p:nvPr/>
        </p:nvSpPr>
        <p:spPr>
          <a:xfrm>
            <a:off x="3937750" y="1273750"/>
            <a:ext cx="4166100" cy="3848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>
                <a:solidFill>
                  <a:srgbClr val="212120"/>
                </a:solidFill>
                <a:highlight>
                  <a:schemeClr val="lt1"/>
                </a:highlight>
              </a:rPr>
              <a:t>│ ├── strategy/</a:t>
            </a:r>
            <a:endParaRPr sz="800">
              <a:solidFill>
                <a:srgbClr val="212120"/>
              </a:solidFill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>
                <a:solidFill>
                  <a:srgbClr val="212120"/>
                </a:solidFill>
                <a:highlight>
                  <a:schemeClr val="lt1"/>
                </a:highlight>
              </a:rPr>
              <a:t>│ │ ├── adapter/</a:t>
            </a:r>
            <a:endParaRPr sz="800">
              <a:solidFill>
                <a:srgbClr val="212120"/>
              </a:solidFill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>
                <a:solidFill>
                  <a:srgbClr val="212120"/>
                </a:solidFill>
                <a:highlight>
                  <a:schemeClr val="lt1"/>
                </a:highlight>
              </a:rPr>
              <a:t>│ │ │ ├── LegacyAdapter.java</a:t>
            </a:r>
            <a:endParaRPr sz="800">
              <a:solidFill>
                <a:srgbClr val="212120"/>
              </a:solidFill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>
                <a:solidFill>
                  <a:srgbClr val="212120"/>
                </a:solidFill>
                <a:highlight>
                  <a:schemeClr val="lt1"/>
                </a:highlight>
              </a:rPr>
              <a:t>│ │ │ └── LegacyShippingSystem.java</a:t>
            </a:r>
            <a:endParaRPr sz="800">
              <a:solidFill>
                <a:srgbClr val="212120"/>
              </a:solidFill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>
                <a:solidFill>
                  <a:srgbClr val="212120"/>
                </a:solidFill>
                <a:highlight>
                  <a:schemeClr val="lt1"/>
                </a:highlight>
              </a:rPr>
              <a:t>│ │ ├── decorator/</a:t>
            </a:r>
            <a:endParaRPr sz="800">
              <a:solidFill>
                <a:srgbClr val="212120"/>
              </a:solidFill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>
                <a:solidFill>
                  <a:srgbClr val="212120"/>
                </a:solidFill>
                <a:highlight>
                  <a:schemeClr val="lt1"/>
                </a:highlight>
              </a:rPr>
              <a:t>│ │ │ ├── DiscountDecorator.java</a:t>
            </a:r>
            <a:endParaRPr sz="800">
              <a:solidFill>
                <a:srgbClr val="212120"/>
              </a:solidFill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>
                <a:solidFill>
                  <a:srgbClr val="212120"/>
                </a:solidFill>
                <a:highlight>
                  <a:schemeClr val="lt1"/>
                </a:highlight>
              </a:rPr>
              <a:t>│ │ │ ├── FreightDecorator.java</a:t>
            </a:r>
            <a:endParaRPr sz="800">
              <a:solidFill>
                <a:srgbClr val="212120"/>
              </a:solidFill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>
                <a:solidFill>
                  <a:srgbClr val="212120"/>
                </a:solidFill>
                <a:highlight>
                  <a:schemeClr val="lt1"/>
                </a:highlight>
              </a:rPr>
              <a:t>│ │ │ ├── InsuranceDecorator.java</a:t>
            </a:r>
            <a:endParaRPr sz="800">
              <a:solidFill>
                <a:srgbClr val="212120"/>
              </a:solidFill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>
                <a:solidFill>
                  <a:srgbClr val="212120"/>
                </a:solidFill>
                <a:highlight>
                  <a:schemeClr val="lt1"/>
                </a:highlight>
              </a:rPr>
              <a:t>│ │ │ ├── InsuranceExtraService.java</a:t>
            </a:r>
            <a:endParaRPr sz="800">
              <a:solidFill>
                <a:srgbClr val="212120"/>
              </a:solidFill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>
                <a:solidFill>
                  <a:srgbClr val="212120"/>
                </a:solidFill>
                <a:highlight>
                  <a:schemeClr val="lt1"/>
                </a:highlight>
              </a:rPr>
              <a:t>│ │ │ ├── SaturdayDeliveryDecorator.java</a:t>
            </a:r>
            <a:endParaRPr sz="800">
              <a:solidFill>
                <a:srgbClr val="212120"/>
              </a:solidFill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>
                <a:solidFill>
                  <a:srgbClr val="212120"/>
                </a:solidFill>
                <a:highlight>
                  <a:schemeClr val="lt1"/>
                </a:highlight>
              </a:rPr>
              <a:t>│ │ │ └── SaturdayDeliveryExtraService.java</a:t>
            </a:r>
            <a:endParaRPr sz="800">
              <a:solidFill>
                <a:srgbClr val="212120"/>
              </a:solidFill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>
                <a:solidFill>
                  <a:srgbClr val="212120"/>
                </a:solidFill>
                <a:highlight>
                  <a:schemeClr val="lt1"/>
                </a:highlight>
              </a:rPr>
              <a:t>│ │ ├── impl/</a:t>
            </a:r>
            <a:endParaRPr sz="800">
              <a:solidFill>
                <a:srgbClr val="212120"/>
              </a:solidFill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>
                <a:solidFill>
                  <a:srgbClr val="212120"/>
                </a:solidFill>
                <a:highlight>
                  <a:schemeClr val="lt1"/>
                </a:highlight>
              </a:rPr>
              <a:t>│ │ │ ├── AzulExpressStrategy.java</a:t>
            </a:r>
            <a:endParaRPr sz="800">
              <a:solidFill>
                <a:srgbClr val="212120"/>
              </a:solidFill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>
                <a:solidFill>
                  <a:srgbClr val="212120"/>
                </a:solidFill>
                <a:highlight>
                  <a:schemeClr val="lt1"/>
                </a:highlight>
              </a:rPr>
              <a:t>│ │ │ ├── CorreiosStrategy.java</a:t>
            </a:r>
            <a:endParaRPr sz="800">
              <a:solidFill>
                <a:srgbClr val="212120"/>
              </a:solidFill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>
                <a:solidFill>
                  <a:srgbClr val="212120"/>
                </a:solidFill>
                <a:highlight>
                  <a:schemeClr val="lt1"/>
                </a:highlight>
              </a:rPr>
              <a:t>│ │ │ └── DefaultFreightStrategy.java</a:t>
            </a:r>
            <a:endParaRPr sz="800">
              <a:solidFill>
                <a:srgbClr val="212120"/>
              </a:solidFill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>
                <a:solidFill>
                  <a:srgbClr val="212120"/>
                </a:solidFill>
                <a:highlight>
                  <a:schemeClr val="lt1"/>
                </a:highlight>
              </a:rPr>
              <a:t>│ │ ├── DeliveryTimeStrategy.java</a:t>
            </a:r>
            <a:endParaRPr sz="800">
              <a:solidFill>
                <a:srgbClr val="212120"/>
              </a:solidFill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>
                <a:solidFill>
                  <a:srgbClr val="212120"/>
                </a:solidFill>
                <a:highlight>
                  <a:schemeClr val="lt1"/>
                </a:highlight>
              </a:rPr>
              <a:t>│ │ └── FreightStrategy.java</a:t>
            </a:r>
            <a:endParaRPr sz="800">
              <a:solidFill>
                <a:srgbClr val="212120"/>
              </a:solidFill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>
                <a:solidFill>
                  <a:srgbClr val="212120"/>
                </a:solidFill>
                <a:highlight>
                  <a:schemeClr val="lt1"/>
                </a:highlight>
              </a:rPr>
              <a:t>│ └── util/</a:t>
            </a:r>
            <a:endParaRPr sz="800">
              <a:solidFill>
                <a:srgbClr val="212120"/>
              </a:solidFill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>
                <a:solidFill>
                  <a:srgbClr val="212120"/>
                </a:solidFill>
                <a:highlight>
                  <a:schemeClr val="lt1"/>
                </a:highlight>
              </a:rPr>
              <a:t>│ ├── Money.java</a:t>
            </a:r>
            <a:endParaRPr sz="800">
              <a:solidFill>
                <a:srgbClr val="212120"/>
              </a:solidFill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>
                <a:solidFill>
                  <a:srgbClr val="212120"/>
                </a:solidFill>
                <a:highlight>
                  <a:schemeClr val="lt1"/>
                </a:highlight>
              </a:rPr>
              <a:t>│ └── WeightCalculator.java</a:t>
            </a:r>
            <a:endParaRPr sz="800">
              <a:solidFill>
                <a:srgbClr val="212120"/>
              </a:solidFill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>
                <a:solidFill>
                  <a:srgbClr val="212120"/>
                </a:solidFill>
                <a:highlight>
                  <a:schemeClr val="lt1"/>
                </a:highlight>
              </a:rPr>
              <a:t>├── src/main/resources/</a:t>
            </a:r>
            <a:endParaRPr sz="800">
              <a:solidFill>
                <a:srgbClr val="212120"/>
              </a:solidFill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>
                <a:solidFill>
                  <a:srgbClr val="212120"/>
                </a:solidFill>
                <a:highlight>
                  <a:schemeClr val="lt1"/>
                </a:highlight>
              </a:rPr>
              <a:t>│ └── application.yml</a:t>
            </a:r>
            <a:endParaRPr sz="800">
              <a:solidFill>
                <a:srgbClr val="212120"/>
              </a:solidFill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>
                <a:solidFill>
                  <a:srgbClr val="212120"/>
                </a:solidFill>
                <a:highlight>
                  <a:schemeClr val="lt1"/>
                </a:highlight>
              </a:rPr>
              <a:t>├── src/test/java/com/example/freight/</a:t>
            </a:r>
            <a:endParaRPr sz="800">
              <a:solidFill>
                <a:srgbClr val="212120"/>
              </a:solidFill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>
                <a:solidFill>
                  <a:srgbClr val="212120"/>
                </a:solidFill>
                <a:highlight>
                  <a:schemeClr val="lt1"/>
                </a:highlight>
              </a:rPr>
              <a:t>│ └── (testes unitários e de integração)</a:t>
            </a:r>
            <a:endParaRPr sz="800">
              <a:solidFill>
                <a:srgbClr val="212120"/>
              </a:solidFill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>
                <a:solidFill>
                  <a:srgbClr val="212120"/>
                </a:solidFill>
                <a:highlight>
                  <a:schemeClr val="lt1"/>
                </a:highlight>
              </a:rPr>
              <a:t>├── pom.xml</a:t>
            </a:r>
            <a:endParaRPr sz="800">
              <a:solidFill>
                <a:srgbClr val="212120"/>
              </a:solidFill>
              <a:highlight>
                <a:schemeClr val="lt1"/>
              </a:highlight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>
                <a:solidFill>
                  <a:srgbClr val="212120"/>
                </a:solidFill>
                <a:highlight>
                  <a:schemeClr val="lt1"/>
                </a:highlight>
              </a:rPr>
              <a:t>└── README.md</a:t>
            </a:r>
            <a:endParaRPr sz="800">
              <a:solidFill>
                <a:srgbClr val="212120"/>
              </a:solidFill>
              <a:highlight>
                <a:schemeClr val="lt1"/>
              </a:highlight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27"/>
          <p:cNvSpPr txBox="1"/>
          <p:nvPr>
            <p:ph type="title"/>
          </p:nvPr>
        </p:nvSpPr>
        <p:spPr>
          <a:xfrm>
            <a:off x="311725" y="500925"/>
            <a:ext cx="8520600" cy="623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None/>
            </a:pPr>
            <a:r>
              <a:rPr lang="pt-BR" sz="4400">
                <a:highlight>
                  <a:schemeClr val="dk1"/>
                </a:highlight>
                <a:latin typeface="Calibri"/>
                <a:ea typeface="Calibri"/>
                <a:cs typeface="Calibri"/>
                <a:sym typeface="Calibri"/>
              </a:rPr>
              <a:t>Tecnologias Utilizadas</a:t>
            </a:r>
            <a:endParaRPr>
              <a:highlight>
                <a:schemeClr val="dk1"/>
              </a:highlight>
            </a:endParaRPr>
          </a:p>
        </p:txBody>
      </p:sp>
      <p:sp>
        <p:nvSpPr>
          <p:cNvPr id="151" name="Google Shape;151;p27"/>
          <p:cNvSpPr txBox="1"/>
          <p:nvPr>
            <p:ph idx="4294967295" type="body"/>
          </p:nvPr>
        </p:nvSpPr>
        <p:spPr>
          <a:xfrm>
            <a:off x="457200" y="1350325"/>
            <a:ext cx="8229600" cy="3244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54000" lvl="0" marL="3429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pt-BR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Java 17</a:t>
            </a:r>
            <a:endParaRPr sz="1800"/>
          </a:p>
          <a:p>
            <a:pPr indent="-254000" lvl="0" marL="34290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pt-BR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Spring Boot e Spring Web</a:t>
            </a:r>
            <a:endParaRPr sz="1800"/>
          </a:p>
          <a:p>
            <a:pPr indent="-254000" lvl="0" marL="34290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pt-BR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Spring Validation</a:t>
            </a:r>
            <a:endParaRPr sz="1800"/>
          </a:p>
          <a:p>
            <a:pPr indent="-254000" lvl="0" marL="34290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pt-BR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Resilience4j e Micrometer</a:t>
            </a:r>
            <a:endParaRPr sz="1800"/>
          </a:p>
          <a:p>
            <a:pPr indent="-254000" lvl="0" marL="342900" rtl="0" algn="l">
              <a:spcBef>
                <a:spcPts val="640"/>
              </a:spcBef>
              <a:spcAft>
                <a:spcPts val="1200"/>
              </a:spcAft>
              <a:buClr>
                <a:schemeClr val="dk1"/>
              </a:buClr>
              <a:buSzPts val="1800"/>
              <a:buChar char="●"/>
            </a:pPr>
            <a:r>
              <a:rPr lang="pt-BR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Maven e Lombok</a:t>
            </a:r>
            <a:endParaRPr sz="18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8"/>
          <p:cNvSpPr txBox="1"/>
          <p:nvPr>
            <p:ph type="title"/>
          </p:nvPr>
        </p:nvSpPr>
        <p:spPr>
          <a:xfrm>
            <a:off x="311725" y="500925"/>
            <a:ext cx="8520600" cy="623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None/>
            </a:pPr>
            <a:r>
              <a:rPr lang="pt-BR" sz="4400">
                <a:latin typeface="Calibri"/>
                <a:ea typeface="Calibri"/>
                <a:cs typeface="Calibri"/>
                <a:sym typeface="Calibri"/>
              </a:rPr>
              <a:t>Padrões de Reuso Aplicados</a:t>
            </a:r>
            <a:endParaRPr/>
          </a:p>
        </p:txBody>
      </p:sp>
      <p:sp>
        <p:nvSpPr>
          <p:cNvPr id="157" name="Google Shape;157;p28"/>
          <p:cNvSpPr txBox="1"/>
          <p:nvPr>
            <p:ph idx="4294967295" type="body"/>
          </p:nvPr>
        </p:nvSpPr>
        <p:spPr>
          <a:xfrm>
            <a:off x="457200" y="1261000"/>
            <a:ext cx="8229600" cy="33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54000" lvl="0" marL="3429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pt-BR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Strategy: cálculo por transportadora</a:t>
            </a:r>
            <a:endParaRPr sz="1800"/>
          </a:p>
          <a:p>
            <a:pPr indent="-254000" lvl="0" marL="34290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pt-BR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Factory: seleção dinâmica da estratégia</a:t>
            </a:r>
            <a:endParaRPr sz="1800"/>
          </a:p>
          <a:p>
            <a:pPr indent="-254000" lvl="0" marL="34290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pt-BR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Decorator: serviços adicionais</a:t>
            </a:r>
            <a:endParaRPr sz="1800"/>
          </a:p>
          <a:p>
            <a:pPr indent="-254000" lvl="0" marL="342900" rtl="0" algn="l">
              <a:spcBef>
                <a:spcPts val="640"/>
              </a:spcBef>
              <a:spcAft>
                <a:spcPts val="1200"/>
              </a:spcAft>
              <a:buClr>
                <a:schemeClr val="dk1"/>
              </a:buClr>
              <a:buSzPts val="1800"/>
              <a:buChar char="●"/>
            </a:pPr>
            <a:r>
              <a:rPr lang="pt-BR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Adapter: integração com sistemas legados</a:t>
            </a:r>
            <a:endParaRPr sz="18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29"/>
          <p:cNvSpPr txBox="1"/>
          <p:nvPr>
            <p:ph type="title"/>
          </p:nvPr>
        </p:nvSpPr>
        <p:spPr>
          <a:xfrm>
            <a:off x="311725" y="500925"/>
            <a:ext cx="8520600" cy="623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None/>
            </a:pPr>
            <a:r>
              <a:rPr lang="pt-BR" sz="4400">
                <a:highlight>
                  <a:schemeClr val="dk1"/>
                </a:highlight>
                <a:latin typeface="Calibri"/>
                <a:ea typeface="Calibri"/>
                <a:cs typeface="Calibri"/>
                <a:sym typeface="Calibri"/>
              </a:rPr>
              <a:t>Reutilização do Serviço</a:t>
            </a:r>
            <a:endParaRPr>
              <a:highlight>
                <a:schemeClr val="dk1"/>
              </a:highlight>
            </a:endParaRPr>
          </a:p>
        </p:txBody>
      </p:sp>
      <p:sp>
        <p:nvSpPr>
          <p:cNvPr id="163" name="Google Shape;163;p29"/>
          <p:cNvSpPr txBox="1"/>
          <p:nvPr>
            <p:ph idx="4294967295" type="body"/>
          </p:nvPr>
        </p:nvSpPr>
        <p:spPr>
          <a:xfrm>
            <a:off x="457200" y="1280125"/>
            <a:ext cx="8229600" cy="33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54000" lvl="0" marL="3429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pt-BR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Integração via HTTP REST</a:t>
            </a:r>
            <a:endParaRPr sz="1800"/>
          </a:p>
          <a:p>
            <a:pPr indent="-254000" lvl="0" marL="34290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pt-BR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Uso em e-commerce, marketplaces e sistemas logísticos</a:t>
            </a:r>
            <a:endParaRPr sz="1800"/>
          </a:p>
          <a:p>
            <a:pPr indent="-254000" lvl="0" marL="342900" rtl="0" algn="l">
              <a:spcBef>
                <a:spcPts val="640"/>
              </a:spcBef>
              <a:spcAft>
                <a:spcPts val="1200"/>
              </a:spcAft>
              <a:buClr>
                <a:schemeClr val="dk1"/>
              </a:buClr>
              <a:buSzPts val="1800"/>
              <a:buChar char="●"/>
            </a:pPr>
            <a:r>
              <a:rPr lang="pt-BR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Centralização das regras de negócio</a:t>
            </a:r>
            <a:endParaRPr sz="180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30"/>
          <p:cNvSpPr txBox="1"/>
          <p:nvPr>
            <p:ph type="title"/>
          </p:nvPr>
        </p:nvSpPr>
        <p:spPr>
          <a:xfrm>
            <a:off x="311725" y="500925"/>
            <a:ext cx="8520600" cy="623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None/>
            </a:pPr>
            <a:r>
              <a:rPr lang="pt-BR" sz="4400">
                <a:latin typeface="Calibri"/>
                <a:ea typeface="Calibri"/>
                <a:cs typeface="Calibri"/>
                <a:sym typeface="Calibri"/>
              </a:rPr>
              <a:t>Conclusão</a:t>
            </a:r>
            <a:endParaRPr/>
          </a:p>
        </p:txBody>
      </p:sp>
      <p:sp>
        <p:nvSpPr>
          <p:cNvPr id="169" name="Google Shape;169;p30"/>
          <p:cNvSpPr txBox="1"/>
          <p:nvPr>
            <p:ph idx="4294967295" type="body"/>
          </p:nvPr>
        </p:nvSpPr>
        <p:spPr>
          <a:xfrm>
            <a:off x="457200" y="1305650"/>
            <a:ext cx="8229600" cy="3288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54000" lvl="0" marL="3429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pt-BR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Alto potencial de reutilização</a:t>
            </a:r>
            <a:endParaRPr sz="1800"/>
          </a:p>
          <a:p>
            <a:pPr indent="-254000" lvl="0" marL="34290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pt-BR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Facilidade de manutenção e evolução</a:t>
            </a:r>
            <a:endParaRPr sz="1800"/>
          </a:p>
          <a:p>
            <a:pPr indent="-254000" lvl="0" marL="342900" rtl="0" algn="l">
              <a:spcBef>
                <a:spcPts val="640"/>
              </a:spcBef>
              <a:spcAft>
                <a:spcPts val="1200"/>
              </a:spcAft>
              <a:buClr>
                <a:schemeClr val="dk1"/>
              </a:buClr>
              <a:buSzPts val="1800"/>
              <a:buChar char="●"/>
            </a:pPr>
            <a:r>
              <a:rPr lang="pt-BR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Aplicação prática dos conceitos de reuso de software</a:t>
            </a:r>
            <a:endParaRPr sz="18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Paradigm">
  <a:themeElements>
    <a:clrScheme name="Paradigm">
      <a:dk1>
        <a:srgbClr val="31394D"/>
      </a:dk1>
      <a:lt1>
        <a:srgbClr val="FFFFFF"/>
      </a:lt1>
      <a:dk2>
        <a:srgbClr val="666666"/>
      </a:dk2>
      <a:lt2>
        <a:srgbClr val="626B73"/>
      </a:lt2>
      <a:accent1>
        <a:srgbClr val="002F4A"/>
      </a:accent1>
      <a:accent2>
        <a:srgbClr val="D9C4B1"/>
      </a:accent2>
      <a:accent3>
        <a:srgbClr val="EDE3DA"/>
      </a:accent3>
      <a:accent4>
        <a:srgbClr val="B85741"/>
      </a:accent4>
      <a:accent5>
        <a:srgbClr val="009384"/>
      </a:accent5>
      <a:accent6>
        <a:srgbClr val="D0F6FF"/>
      </a:accent6>
      <a:hlink>
        <a:srgbClr val="009384"/>
      </a:hlink>
      <a:folHlink>
        <a:srgbClr val="009384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